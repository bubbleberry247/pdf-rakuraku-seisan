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今日は“答え”を渡す回ではありません。</a:t>
            </a:r>
          </a:p>
          <a:p>
            <a:r>
              <a:t>同じ年収帯でも、家族構成・住宅・教育・年金で正解が変わるからです。</a:t>
            </a:r>
          </a:p>
          <a:p>
            <a:r>
              <a:t>今日は“構造と変数”を理解して、あなたの数字に落とすのは無料面談でやります。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最初に約束です。</a:t>
            </a:r>
          </a:p>
          <a:p>
            <a:r>
              <a:t>今日は“構造と変数”まで。『あなたはこれを買うべき』はやりません。</a:t>
            </a:r>
          </a:p>
          <a:p>
            <a:r>
              <a:t>税務・法務も個別事情が必要なので、一般論までに留めます。</a:t>
            </a:r>
          </a:p>
          <a:p>
            <a:r>
              <a:t>この後の無料面談でライフプランを作り、そこで初めて“あなたの答え”を出します。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流れはこの6つです。</a:t>
            </a:r>
          </a:p>
          <a:p>
            <a:r>
              <a:t>前半でデータを出して、後半で2つの代表ケースをストレステストします。</a:t>
            </a:r>
          </a:p>
          <a:p>
            <a:r>
              <a:t>最後に介護・相続は1枚だけ触れ、無料面談の予約で締めます。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富裕層のストレスは大きく4つに集約されます。</a:t>
            </a:r>
          </a:p>
          <a:p>
            <a:r>
              <a:t>税金、社会保険、教育資金、老後資金。</a:t>
            </a:r>
          </a:p>
          <a:p>
            <a:r>
              <a:t>今日はこの4つを“変数”で整理し、家計の耐久性を上げる発想を持ち帰ってください。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年収が上がっても手取りが増えた気がしない。</a:t>
            </a:r>
          </a:p>
          <a:p>
            <a:r>
              <a:t>理由はシンプルで、税と社会保険が同時に増えるからです。</a:t>
            </a:r>
          </a:p>
          <a:p>
            <a:r>
              <a:t>次のスライドで、実データで“どれくらい引かれているか”を見ます。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まず35歳夫婦・子2の代表ケースです。</a:t>
            </a:r>
          </a:p>
          <a:p>
            <a:r>
              <a:t>実収入から税・社保を引いた可処分所得、消費支出の後に余白がいくら残るか。</a:t>
            </a:r>
          </a:p>
          <a:p>
            <a:r>
              <a:t>この余白に、貯蓄・投資・ローン元本・突発費が全部入ります。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次に40歳単身の代表ケースです（離婚後単身も含みます）。</a:t>
            </a:r>
          </a:p>
          <a:p>
            <a:r>
              <a:t>単身は税が重く見えやすく、余白が小さくなりがちです。</a:t>
            </a:r>
          </a:p>
          <a:p>
            <a:r>
              <a:t>この“余白の小ささ”が、老後不安や資産運用の焦りに直結します。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この統計は『年収1000万以上』そのものではなく、勤労者世帯の上位20%を切り出しています。</a:t>
            </a:r>
          </a:p>
          <a:p>
            <a:r>
              <a:t>境界は932万円。年収1000万は上位20%に入りますが、上位20%は幅が広い。</a:t>
            </a:r>
          </a:p>
          <a:p>
            <a:r>
              <a:t>今日は“家計構造の近似”として使い、個別最適は面談でやります。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ここが今日の一つ目の結論です。</a:t>
            </a:r>
          </a:p>
          <a:p>
            <a:r>
              <a:t>高年収でも“余白は有限”。</a:t>
            </a:r>
          </a:p>
          <a:p>
            <a:r>
              <a:t>この余白を、どの順番で何に使うかで、将来の安心が大きく変わります。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家計は“気合”で回すものではなく、“システム”として設計します。</a:t>
            </a:r>
          </a:p>
          <a:p>
            <a:r>
              <a:t>収入が入力、税と社保が摩擦、支出が出力、資産と負債が状態。</a:t>
            </a:r>
          </a:p>
          <a:p>
            <a:r>
              <a:t>この全体像が見えると、打ち手の順序が決まります。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今日扱う変数はこの範囲に絞ります。</a:t>
            </a:r>
          </a:p>
          <a:p>
            <a:r>
              <a:t>重要なのは、1個ずつではなく“重なり”で負担が増えること。</a:t>
            </a:r>
          </a:p>
          <a:p>
            <a:r>
              <a:t>ここから各変数をざっと俯瞰します。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税は“率”を暗記するより、何が増減させるかの構造を掴むのが早いです。</a:t>
            </a:r>
          </a:p>
          <a:p>
            <a:r>
              <a:t>控除や制度は個別事情で変わるので、今日は名前だけ。</a:t>
            </a:r>
          </a:p>
          <a:p>
            <a:r>
              <a:t>面談であなたの条件に当てはめて、効果の大きい順を出します。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今日一番の盲点が社会保険です。</a:t>
            </a:r>
          </a:p>
          <a:p>
            <a:r>
              <a:t>税より社保が重いケースは普通にあります。</a:t>
            </a:r>
          </a:p>
          <a:p>
            <a:r>
              <a:t>手取りを増やす設計は、税と社保をセットで見ないと崩れます。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高額療養費は重要な制度です。</a:t>
            </a:r>
          </a:p>
          <a:p>
            <a:r>
              <a:t>ただし“ゼロになる”制度ではありません。</a:t>
            </a:r>
          </a:p>
          <a:p>
            <a:r>
              <a:t>医療費だけでなく、休職や働き方の変化で収入が下がることがセットで起きます。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教育費は金額も大事ですが、もっと大事なのはタイミングです。</a:t>
            </a:r>
          </a:p>
          <a:p>
            <a:r>
              <a:t>住宅・教育・老後が重なる時期に、家計が折れやすい。</a:t>
            </a:r>
          </a:p>
          <a:p>
            <a:r>
              <a:t>次の代表ケースAで、重なりの見方を示します。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老後の話で重要なのは、生活水準が下げにくいことです。</a:t>
            </a:r>
          </a:p>
          <a:p>
            <a:r>
              <a:t>年金だけで今の生活レベルを維持できるか。</a:t>
            </a:r>
          </a:p>
          <a:p>
            <a:r>
              <a:t>足りないなら、何を、いつから、何年分、どう埋めるのか。ここを逆算します。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このテンプレが今日の核です。</a:t>
            </a:r>
          </a:p>
          <a:p>
            <a:r>
              <a:t>生活費Xから年金Yを引いて、毎月のギャップZを出す。</a:t>
            </a:r>
          </a:p>
          <a:p>
            <a:r>
              <a:t>Yは人によって全く違うので、ねんきん定期便で確定させます。</a:t>
            </a:r>
          </a:p>
          <a:p>
            <a:r>
              <a:t>面談ではあなたの数字でこのグラフを作ります。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ここで“答え”を出さない理由がこれです。</a:t>
            </a:r>
          </a:p>
          <a:p>
            <a:r>
              <a:t>年金は人によって千差万別。ここを外すと全部ずれます。</a:t>
            </a:r>
          </a:p>
          <a:p>
            <a:r>
              <a:t>だからまず見える化。ここから代表ケースAに入ります。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ここから代表ケースAです。</a:t>
            </a:r>
          </a:p>
          <a:p>
            <a:r>
              <a:t>論点は住宅・教育・老後が重なること。</a:t>
            </a:r>
          </a:p>
          <a:p>
            <a:r>
              <a:t>住宅は“買う/買わない”ではなく、“耐える設計か”が勝負です。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耐久性とは、変数が動いても家計が折れないことです。</a:t>
            </a:r>
          </a:p>
          <a:p>
            <a:r>
              <a:t>金利、収入、教育費、医療。全部が動きます。</a:t>
            </a:r>
          </a:p>
          <a:p>
            <a:r>
              <a:t>次の3枚でストレステストの考え方を見せます。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金利は当てられません。だから耐える設計が必要です。</a:t>
            </a:r>
          </a:p>
          <a:p>
            <a:r>
              <a:t>同じ5,000万円でも、金利が上がると返済はこれだけ変わります。</a:t>
            </a:r>
          </a:p>
          <a:p>
            <a:r>
              <a:t>この差額が、余白を削り、教育や老後とぶつかります。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教育費は“いつ”山が来るかが勝負です。</a:t>
            </a:r>
          </a:p>
          <a:p>
            <a:r>
              <a:t>住宅ローンが重い時期と、教育費が上がる時期が重なると家計が折れます。</a:t>
            </a:r>
          </a:p>
          <a:p>
            <a:r>
              <a:t>面談ではお子さんの年齢から、山を可視化します。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突発で一番痛いのは、出費と収入減が同時に起きることです。</a:t>
            </a:r>
          </a:p>
          <a:p>
            <a:r>
              <a:t>固定費が高いほど、回復力が下がります。</a:t>
            </a:r>
          </a:p>
          <a:p>
            <a:r>
              <a:t>ここも“あなたの条件”で耐久性をチェックします。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ここで具体策を言い切らないのは、条件で変わるからです。</a:t>
            </a:r>
          </a:p>
          <a:p>
            <a:r>
              <a:t>ただ順序は共通で、見える化→設計→実行。</a:t>
            </a:r>
          </a:p>
          <a:p>
            <a:r>
              <a:t>面談ではあなたの数字で設計図を作ります。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無料面談では、ライフプランを作ります。</a:t>
            </a:r>
          </a:p>
          <a:p>
            <a:r>
              <a:t>資産負債と収支、そしてイベントの重なり。</a:t>
            </a:r>
          </a:p>
          <a:p>
            <a:r>
              <a:t>そこで初めて、あなたの最適解の候補が出せます。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次に代表ケースBです。</a:t>
            </a:r>
          </a:p>
          <a:p>
            <a:r>
              <a:t>単身は家計のクッションが薄く、老後不安が直撃しやすい。</a:t>
            </a:r>
          </a:p>
          <a:p>
            <a:r>
              <a:t>だからこそ資産運用の前に“順序”が必要です。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単身の方から一番多い相談が『資産運用の正解が知りたい』です。</a:t>
            </a:r>
          </a:p>
          <a:p>
            <a:r>
              <a:t>ただ、いきなり正解を探すのが危ない。</a:t>
            </a:r>
          </a:p>
          <a:p>
            <a:r>
              <a:t>先に守る、次に増やす、最後に最適化。この順序です。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単身は住居費と医療の影響が大きく出ます。</a:t>
            </a:r>
          </a:p>
          <a:p>
            <a:r>
              <a:t>年金額は必ず確認。ギャップが何年分あるかで、打ち手が変わります。</a:t>
            </a:r>
          </a:p>
          <a:p>
            <a:r>
              <a:t>ここも面談であなたの数字に落とします。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ストレスは単体ではなく、同時に起きます。</a:t>
            </a:r>
          </a:p>
          <a:p>
            <a:r>
              <a:t>市場が下がった時に生活イベントが来ると、取り崩しやすい。</a:t>
            </a:r>
          </a:p>
          <a:p>
            <a:r>
              <a:t>単身はリカバリーが効きにくいので、設計が重要です。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ここも答えは面談で。</a:t>
            </a:r>
          </a:p>
          <a:p>
            <a:r>
              <a:t>ただ共通して言えるのは、固定費を設計変数として持つこと。</a:t>
            </a:r>
          </a:p>
          <a:p>
            <a:r>
              <a:t>守る資金と増やす資金を分け、制度は最後に最適化します。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介護と相続は本当は深いですが、今日は入口だけ。</a:t>
            </a:r>
          </a:p>
          <a:p>
            <a:r>
              <a:t>お金だけでなく、手続きや感情、時間が絡むので“前倒し”が効きます。</a:t>
            </a:r>
          </a:p>
          <a:p>
            <a:r>
              <a:t>必要なら面談で状況を整理し、専門家連携も含めて段取りを作ります。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最後の結論です。</a:t>
            </a:r>
          </a:p>
          <a:p>
            <a:r>
              <a:t>制度も景気も変わる時代ほど、早めの可視化が強い。</a:t>
            </a:r>
          </a:p>
          <a:p>
            <a:r>
              <a:t>当てるのではなく、動いても耐える設計。</a:t>
            </a:r>
          </a:p>
          <a:p>
            <a:r>
              <a:t>そのための最初の一手がライフプランです。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無料面談では、ここまでをあなたの数字で作ります。</a:t>
            </a:r>
          </a:p>
          <a:p>
            <a:r>
              <a:t>今日の話は構造。面談で初めて答えが出せます。</a:t>
            </a:r>
          </a:p>
          <a:p>
            <a:r>
              <a:t>この後その場で枠を取れます。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予約はこの後すぐ取れます。</a:t>
            </a:r>
          </a:p>
          <a:p>
            <a:r>
              <a:t>QRか受付用紙、または終了後ブースで。</a:t>
            </a:r>
          </a:p>
          <a:p>
            <a:r>
              <a:t>ねんきん定期便だけは、面談の精度が一気に上がるのでぜひ持ってきてください。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本日はありがとうございました。</a:t>
            </a:r>
          </a:p>
          <a:p>
            <a:r>
              <a:t>今日の内容は一般情報で、個別判断は面談で確認します。</a:t>
            </a:r>
          </a:p>
          <a:p>
            <a:r>
              <a:t>ご希望の方はこの後、無料面談の予約をお願いします。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富裕層の四大ストレスを“構造”で理解する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税・社会保険・教育・老後を、データで腹落ちさせる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個別の答えは出しません（答えは面談で“あなたの数字”に落とす）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Version: 2026-02-07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今日のゴール（言うこと / 言わないこと）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言う: 構造と変数（何が負担を増減させるか）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言う: 2つのペルソナで“悩みが変わる”を可視化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言わない: 商品推奨・資産配分の正解・税務法務の断定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アジェンダ（60分）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1. データで現実を見る（A/Bの家計）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2. 四大ストレスの構造（税・社保・教育・老後）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3. Persona A: 住宅×教育×老後の重なり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4. Persona B: 単身×老後×資産運用の順序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5. 介護・相続（1枚だけ）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6. 無料面談の案内（その場で予約）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富裕層の四大ストレス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164592" cy="178308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6479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税金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所得税・住民税</a:t>
            </a:r>
            <a:br/>
            <a:r>
              <a:t>(手取りを削る)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164592" cy="1783080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76479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社会保険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健康保険・年金</a:t>
            </a:r>
            <a:br/>
            <a:r>
              <a:t>(見落とされがち)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164592" cy="178308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6791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教育資金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いつ・何人・公立私立</a:t>
            </a:r>
            <a:br/>
            <a:r>
              <a:t>(重なる)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70332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703320"/>
            <a:ext cx="164592" cy="178308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86791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老後資金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生活水準×長寿</a:t>
            </a:r>
            <a:br/>
            <a:r>
              <a:t>(逆算が必要)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なぜ手取りが増えないのか（構造）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789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1B1B1B"/>
                </a:solidFill>
                <a:latin typeface="Yu Gothic"/>
              </a:defRPr>
            </a:pPr>
            <a:r>
              <a:t>手取り（可処分所得） = 収入 － 税 － 社会保険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収入が増えても、税と社会保険が同時に増えると“体感の増え方”は鈍くなる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だから高年収でも『余白が有限』になりやすい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今日は“構造と変数”を理解して、個別の答えは面談で数字に落とす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A 家計ウォーターフォール（統計）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A6A6A"/>
                </a:solidFill>
                <a:latin typeface="Yu Gothic"/>
              </a:defRPr>
            </a:pPr>
            <a:r>
              <a:t>実収入 848,154円 → 税 74,209円 → 社保 93,919円 → 可処分 680,001円 → 消費 415,616円 → 余白 264,385円（/月）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実収入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8778240" cy="25603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482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848,154円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直接税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36270" y="2788920"/>
            <a:ext cx="768049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7340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773,945円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社会保険料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4225" y="3474720"/>
            <a:ext cx="972044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4198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680,026円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873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消費支出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2675" y="4160520"/>
            <a:ext cx="4301550" cy="256032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1056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264,410円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731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余白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846320"/>
            <a:ext cx="2736336" cy="25603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7914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264,385円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B 家計ウォーターフォール（統計）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A6A6A"/>
                </a:solidFill>
                <a:latin typeface="Yu Gothic"/>
              </a:defRPr>
            </a:pPr>
            <a:r>
              <a:t>実収入 695,152円 → 税 97,738円 → 社保 76,837円 → 可処分 520,577円 → 消費 358,709円 → 余白 161,868円（/月）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実収入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8778240" cy="25603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482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695,152円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直接税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0104" y="2788920"/>
            <a:ext cx="1234215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7340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597,414円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社会保険料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99821" y="3474720"/>
            <a:ext cx="970282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4198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520,577円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873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消費支出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0116" y="4160520"/>
            <a:ext cx="4529705" cy="256032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1056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161,868円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731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余白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846320"/>
            <a:ext cx="2044036" cy="25603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7914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161,868円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年収1000万は“どの位置”か（五分位）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勤労者世帯の年間収入 五分位（上限値）の目安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3049066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304906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6346" y="2194560"/>
            <a:ext cx="1381201" cy="502920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6346" y="2194560"/>
            <a:ext cx="1381201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7548" y="2194560"/>
            <a:ext cx="1554937" cy="502920"/>
          </a:xfrm>
          <a:prstGeom prst="rect">
            <a:avLst/>
          </a:prstGeom>
          <a:solidFill>
            <a:srgbClr val="C2D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7548" y="2194560"/>
            <a:ext cx="155493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2485" y="2194560"/>
            <a:ext cx="2110892" cy="502920"/>
          </a:xfrm>
          <a:prstGeom prst="rect">
            <a:avLst/>
          </a:prstGeom>
          <a:solidFill>
            <a:srgbClr val="A9C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2485" y="2194560"/>
            <a:ext cx="211089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3377" y="2194560"/>
            <a:ext cx="2328062" cy="502920"/>
          </a:xfrm>
          <a:prstGeom prst="rect">
            <a:avLst/>
          </a:prstGeom>
          <a:solidFill>
            <a:srgbClr val="86B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3377" y="2194560"/>
            <a:ext cx="232806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6346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6306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351万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7548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7508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510万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2485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2445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689万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3377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73337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932万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646920" y="1691640"/>
            <a:ext cx="274320" cy="411480"/>
          </a:xfrm>
          <a:prstGeom prst="downArrow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4447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42318"/>
                </a:solidFill>
                <a:latin typeface="Yu Gothic"/>
              </a:defRPr>
            </a:pPr>
            <a:r>
              <a:t>年収1000万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3063240"/>
            <a:ext cx="10424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年収1000万円は“五分位5（上位20%）”に入る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ただし五分位5は『1000万以上』ではなく、932万超の上位20%なので幅が広い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本セミナーは『高年収層の家計構造の近似』として五分位5データを使う（個別の答えは面談で）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結論（前半）: 高年収でも“余白は有限”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Persona A 余白: 約26.4万円/月（統計）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Persona B 余白: 約16.2万円/月（統計）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余白に『住宅・教育・老後・突発』が全部乗る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家計は“システム”である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3291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入力</a:t>
            </a:r>
            <a:br/>
            <a:r>
              <a:t>収入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828800"/>
            <a:ext cx="137160" cy="9144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40" y="1828800"/>
            <a:ext cx="3291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摩擦</a:t>
            </a:r>
            <a:br/>
            <a:r>
              <a:t>税・社保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40" y="1828800"/>
            <a:ext cx="137160" cy="9144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3291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状態</a:t>
            </a:r>
            <a:br/>
            <a:r>
              <a:t>資産・負債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828800"/>
            <a:ext cx="137160" cy="914400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1828800"/>
            <a:ext cx="3291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出力</a:t>
            </a:r>
            <a:br/>
            <a:r>
              <a:t>支出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828800"/>
            <a:ext cx="137160" cy="91440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297680" y="2057400"/>
            <a:ext cx="411480" cy="457200"/>
          </a:xfrm>
          <a:prstGeom prst="rightArrow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040880" y="2057400"/>
            <a:ext cx="411480" cy="457200"/>
          </a:xfrm>
          <a:prstGeom prst="rightArrow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784080" y="2057400"/>
            <a:ext cx="411480" cy="457200"/>
          </a:xfrm>
          <a:prstGeom prst="rightArrow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1089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家計は“気合”ではなく“設計”で安定する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設計には、収入・税・社保・支出・資産負債の“全体像”が必要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その全体像を作るのがライフプラン（面談で実施）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今日扱う“変数”一覧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税: 税率・控除・家族構成・所得の形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社会保険: 標準報酬月額・年齢・扶養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教育: いつ・何人・公立私立・塾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住宅: 借入額・金利・期間・固定/変動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老後: 生活水準・年金・退職金・寿命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税（変数の地図）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増えやすい: 所得・賞与・副収入、扶養の変化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減りやすい: 各種控除・非課税枠・制度（詳細は面談）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ポイント: 税は“率”より“構造”を掴む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社会保険（変数の地図）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増えやすい: 標準報酬月額の上昇、年齢（介護保険等）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見落とし: 税より“社保が重い”ケースが普通にある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ポイント: 手取り設計は“税と社保セット”で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高額療養費（“ゼロ”にはならない）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自己負担の上限はあるが、出費がゼロになるわけではない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見落としやすい: 収入減（休職）と同時に起きる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備えは“制度の理解”と“余白の確保”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教育費（タイミングが勝負）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教育費は“金額”より“タイミング”が勝負（重なると家計が折れる）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468880"/>
            <a:ext cx="10424160" cy="4572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40232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7352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3185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305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4661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1781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6138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3258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21440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0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4661" y="1783080"/>
            <a:ext cx="1421476" cy="59436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4661" y="1810512"/>
            <a:ext cx="142147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高校〜大学</a:t>
            </a:r>
            <a:br/>
            <a:r>
              <a:t>(山が来やすい)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35534" y="1783080"/>
            <a:ext cx="2369127" cy="594360"/>
          </a:xfrm>
          <a:prstGeom prst="round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5534" y="1810512"/>
            <a:ext cx="2369127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塾・習い事</a:t>
            </a:r>
            <a:br/>
            <a:r>
              <a:t>(増えやすい)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657600"/>
            <a:ext cx="10424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B1B1B"/>
                </a:solidFill>
                <a:latin typeface="Yu Gothic"/>
              </a:defRPr>
            </a:pPr>
            <a:r>
              <a:t>家計が苦しくなるのは『教育費が高い』より『住宅・教育・老後が重なる』ことが多い</a:t>
            </a:r>
          </a:p>
          <a:p>
            <a:pPr>
              <a:defRPr sz="2000">
                <a:solidFill>
                  <a:srgbClr val="1B1B1B"/>
                </a:solidFill>
                <a:latin typeface="Yu Gothic"/>
              </a:defRPr>
            </a:pPr>
            <a:r>
              <a:t>だから“いつ重なるか”を見える化して、余白の使い方を決める</a:t>
            </a:r>
          </a:p>
          <a:p>
            <a:pPr>
              <a:defRPr sz="2000">
                <a:solidFill>
                  <a:srgbClr val="1B1B1B"/>
                </a:solidFill>
                <a:latin typeface="Yu Gothic"/>
              </a:defRPr>
            </a:pPr>
            <a:r>
              <a:t>この“重なり”の可視化が、ライフプランの価値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老後資金: 生活水準は下げにくい（ラチェット効果）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生活レベルは一度上げると下げにくい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年金だけで今の生活水準を保てるか？が本質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不足分は“いつから・何年”埋めるかが問題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老後の逆算グラフ（テンプレ）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老後の逆算（テンプレ）: 生活費X － 年金Y = ギャップ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生活費 X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542032"/>
            <a:ext cx="8046720" cy="5029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48288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420,000円/月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年金 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410712"/>
            <a:ext cx="4828032" cy="50292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337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252,000円/月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ギャップ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279392"/>
            <a:ext cx="3218688" cy="5029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168,000円/月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16636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ポイント: Y（年金）は人によって千差万別。ねんきん定期便で“確定”させる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このテンプレを“自分の数字”に落とすのが、今日のゴールの次の一手（無料面談）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※棒グラフのYは説明用の例（Xの60%）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ここで止める理由: Y（年金）が人によって違う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年金は『制度』と『あなたの加入・収入履歴』で決まる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当てずっぽうで資産運用を始めるのが一番危ない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まず“見える化”して、打ち手を順序で持つ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A（35歳夫婦・子2・専業主婦）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論点: 住宅×教育×老後が“重なる”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買う/買わないではなく『家計が耐えるか』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A 住宅の論点: 買う/買わないではなく“耐久性”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耐久性 = 変数が動いても家計が折れないこと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変数: 金利 / 収入 / 教育費 / 医療 / 介護（将来）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やること: ストレステストで“折れる点”を先に知る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ストレステスト①: 金利上昇（参考例）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参考例: 住宅ローン 金利上昇のインパクト（5,000万円 / 35年 / 元利均等）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3337" y="3270319"/>
            <a:ext cx="1693926" cy="1850321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3337" y="516636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0.5%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3337" y="2995999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B1B1B"/>
                </a:solidFill>
                <a:latin typeface="Yu Gothic"/>
              </a:defRPr>
            </a:pPr>
            <a:r>
              <a:t>129,793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9377" y="3108514"/>
            <a:ext cx="1693926" cy="2012126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9377" y="516636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1.0%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9377" y="2834194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B1B1B"/>
                </a:solidFill>
                <a:latin typeface="Yu Gothic"/>
              </a:defRPr>
            </a:pPr>
            <a:r>
              <a:t>141,143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5417" y="2759414"/>
            <a:ext cx="1693926" cy="2361226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5417" y="516636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2.0%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5417" y="2485094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B1B1B"/>
                </a:solidFill>
                <a:latin typeface="Yu Gothic"/>
              </a:defRPr>
            </a:pPr>
            <a:r>
              <a:t>165,631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1457" y="2377440"/>
            <a:ext cx="1693926" cy="27432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1457" y="516636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3.0%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1457" y="2103120"/>
            <a:ext cx="169392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1B1B1B"/>
                </a:solidFill>
                <a:latin typeface="Yu Gothic"/>
              </a:defRPr>
            </a:pPr>
            <a:r>
              <a:t>192,425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86400"/>
            <a:ext cx="10424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B42318"/>
                </a:solidFill>
                <a:latin typeface="Yu Gothic"/>
              </a:defRPr>
            </a:pPr>
            <a:r>
              <a:t>0.5% → 2.0% で、月の返済が 約35,838円 増える（参考例）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重要なのは『当てる』より『耐える設計（ストレステスト）』を持つこと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参考例（概算）: 5,000万円 / 35年 / 元利均等（ボーナス返済なし）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ストレステスト②: 教育費の山が来る時期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教育費は“金額”より“タイミング”が勝負（重なると家計が折れる）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468880"/>
            <a:ext cx="10424160" cy="4572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40232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7352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83185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305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04661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1781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6138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3258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521440" y="2395728"/>
            <a:ext cx="2000" cy="60350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0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4661" y="1783080"/>
            <a:ext cx="1421476" cy="59436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4661" y="1810512"/>
            <a:ext cx="142147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高校〜大学</a:t>
            </a:r>
            <a:br/>
            <a:r>
              <a:t>(山が来やすい)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35534" y="1783080"/>
            <a:ext cx="2369127" cy="594360"/>
          </a:xfrm>
          <a:prstGeom prst="round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5534" y="1810512"/>
            <a:ext cx="2369127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塾・習い事</a:t>
            </a:r>
            <a:br/>
            <a:r>
              <a:t>(増えやすい)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657600"/>
            <a:ext cx="104241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1B1B1B"/>
                </a:solidFill>
                <a:latin typeface="Yu Gothic"/>
              </a:defRPr>
            </a:pPr>
            <a:r>
              <a:t>家計が苦しくなるのは『教育費が高い』より『住宅・教育・老後が重なる』ことが多い</a:t>
            </a:r>
          </a:p>
          <a:p>
            <a:pPr>
              <a:defRPr sz="2000">
                <a:solidFill>
                  <a:srgbClr val="1B1B1B"/>
                </a:solidFill>
                <a:latin typeface="Yu Gothic"/>
              </a:defRPr>
            </a:pPr>
            <a:r>
              <a:t>だから“いつ重なるか”を見える化して、余白の使い方を決める</a:t>
            </a:r>
          </a:p>
          <a:p>
            <a:pPr>
              <a:defRPr sz="2000">
                <a:solidFill>
                  <a:srgbClr val="1B1B1B"/>
                </a:solidFill>
                <a:latin typeface="Yu Gothic"/>
              </a:defRPr>
            </a:pPr>
            <a:r>
              <a:t>この“重なり”の可視化が、ライフプランの価値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ストレステスト③: 病気/休職/収入減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医療費だけでなく、手取りが落ちる可能性を織り込む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固定費（住宅・教育）が高いほど“回復力”が下がる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備えは『制度理解 + 余白 + 保険設計』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打ち手は“種類”だけ提示（答えは出さない）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1) 見える化（家計の全体像を作る）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2) 設計（耐久性の弱点を埋める）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3) 実行（制度活用・支出設計・資産形成）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面談でやること（ライフプランの中身）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家計のBS/CF（資産・負債・収支）を整理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教育・住宅・老後の“重なり”を見える化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税・社保を含めて、耐久性の弱点を特定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26/35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B（40歳単身・離婚後単身含む）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論点: 老後不安→資産運用に焦る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単身は“受け身”が増える（家計のクッションが薄い）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27/35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典型課題: 『資産運用の正解が欲しい』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資産運用の前に“順序”がある（単身は特に）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77440"/>
            <a:ext cx="6949440" cy="914400"/>
          </a:xfrm>
          <a:prstGeom prst="roundRect">
            <a:avLst/>
          </a:prstGeom>
          <a:solidFill>
            <a:srgbClr val="86B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③ 最適化（税優遇・制度活用）</a:t>
            </a:r>
            <a:br/>
            <a:r>
              <a:t>※正解は人により違う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291840"/>
            <a:ext cx="5669280" cy="914400"/>
          </a:xfrm>
          <a:prstGeom prst="roundRect">
            <a:avLst/>
          </a:prstGeom>
          <a:solidFill>
            <a:srgbClr val="A9C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② 増やす（長期・分散・ルール運用）</a:t>
            </a:r>
            <a:br/>
            <a:r>
              <a:t>※投資比率は面談で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206240"/>
            <a:ext cx="4389120" cy="914400"/>
          </a:xfrm>
          <a:prstGeom prst="roundRect">
            <a:avLst/>
          </a:prstGeom>
          <a:solidFill>
            <a:srgbClr val="C2D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B1B1B"/>
                </a:solidFill>
                <a:latin typeface="Yu Gothic"/>
              </a:defRPr>
            </a:pPr>
            <a:r>
              <a:t>① 守る（生活防衛資金・保険・緊急予備）</a:t>
            </a:r>
            <a:br/>
            <a:r>
              <a:t>※ここが無いと投資が続かない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39496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1B1B"/>
                </a:solidFill>
                <a:latin typeface="Yu Gothic"/>
              </a:defRPr>
            </a:pPr>
            <a:r>
              <a:t>この順序を“あなたの数字”で作るのがライフプラン（面談で実施）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28/35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老後の逆算（単身版）: ギャップの作り方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生活費（住居・食費・保険・医療）を“現役水準”から逆算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年金はねんきん定期便で確認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ギャップが“何年分”あるかで打ち手が変わる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29/35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ストレステスト例: 市場下落/収入変動/住宅判断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1B1B"/>
                </a:solidFill>
                <a:latin typeface="Yu Gothic"/>
              </a:defRPr>
            </a:pPr>
            <a:r>
              <a:t>ストレステスト例: 市場変動 × 生活イベント（単身は“受け身”が増える）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77440"/>
            <a:ext cx="1042416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377440"/>
            <a:ext cx="27432" cy="32918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4023360"/>
            <a:ext cx="10424160" cy="27432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市場変動（小 → 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77440"/>
            <a:ext cx="7315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A6A6A"/>
                </a:solidFill>
                <a:latin typeface="Yu Gothic"/>
              </a:defRPr>
            </a:pPr>
            <a:r>
              <a:t>生活イベント</a:t>
            </a:r>
            <a:br/>
            <a:r>
              <a:t>（少→多）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2560320"/>
            <a:ext cx="4846320" cy="1280160"/>
          </a:xfrm>
          <a:prstGeom prst="round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① 平常</a:t>
            </a:r>
            <a:br/>
            <a:r>
              <a:t>ルール運用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560320"/>
            <a:ext cx="4846320" cy="128016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② 下落</a:t>
            </a:r>
            <a:br/>
            <a:r>
              <a:t>メンタル/取り崩し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206240"/>
            <a:ext cx="4846320" cy="1280160"/>
          </a:xfrm>
          <a:prstGeom prst="round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③ 生活変化</a:t>
            </a:r>
            <a:br/>
            <a:r>
              <a:t>固定費の見直し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4206240"/>
            <a:ext cx="4846320" cy="128016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④ 同時発生</a:t>
            </a:r>
            <a:br/>
            <a:r>
              <a:t>家計が折れやすい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30/35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打ち手は“種類”だけ（正解は面談で）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固定費（特に住居）を“設計変数”として持つ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守る資金と、増やす資金を分ける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制度（非課税枠など）は最後に最適化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31/35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介護・相続（1枚だけ）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起こり得ること: 介護費用、実家の不動産、きょうだい間の調整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相続は“お金”だけでなく“手続き/感情/時間”が絡む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入口: 親の資産の棚卸し、意思確認、連絡体制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32/35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結論（後半）: 早めの対策 = 早めに見える化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制度も景気も変わる時代ほど『早めに可視化』が強い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変数を“当てる”より、変数が動いても耐える設計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だから最初の一手はライフプラン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33/35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無料個別面談で得られること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あなたの数字で『老後逆算グラフ』を作る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住宅・教育・老後の“重なり”を見える化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税・社保を含めた家計の耐久性チェック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答え（最適解候補）はここで提示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34/35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予約方法（オフライン）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方法: QR / 受付用紙 / 終了後ブース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所要: 30秒で予約（希望枠だけ選択）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持ち物: ねんきん定期便、家計の概算、住宅ローン情報（あれば）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A（ストレステスト型）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35/35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免責・注意 + 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本資料は一般情報であり、税務・法務の個別判断は面談で確認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制度は改正されます。最新情報で随時アップデートします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ご希望の方はこの後、無料面談の予約へ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