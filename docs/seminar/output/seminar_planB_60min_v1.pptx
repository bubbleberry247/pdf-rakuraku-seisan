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今日は“当てる”話ではなく、“耐える設計”の話です。</a:t>
            </a:r>
          </a:p>
          <a:p>
            <a:r>
              <a:t>物価や金利、制度が動くほど、家計は設計が重要になります。</a:t>
            </a:r>
          </a:p>
          <a:p>
            <a:r>
              <a:t>個別の答えは面談であなたの数字に落とします。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ゴールは“構造と変数”です。</a:t>
            </a:r>
          </a:p>
          <a:p>
            <a:r>
              <a:t>正解は1つではありません。</a:t>
            </a:r>
          </a:p>
          <a:p>
            <a:r>
              <a:t>ペルソナが違えば設計が変わる。それを腹落ちさせます。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 Bは最初に“変化の枠”を置きます。</a:t>
            </a:r>
          </a:p>
          <a:p>
            <a:r>
              <a:t>ただし未来予測が目的ではありません。</a:t>
            </a:r>
          </a:p>
          <a:p>
            <a:r>
              <a:t>変化があるほど、可視化と順序が重要という話につなげます。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ここは“当てる”話ではなく、前提が揺れるという話です。</a:t>
            </a:r>
          </a:p>
          <a:p>
            <a:r>
              <a:t>金利・税制・制度は変わります。</a:t>
            </a:r>
          </a:p>
          <a:p>
            <a:r>
              <a:t>前提が動くほど、早めに自分の家計を見える化して、打ち手を順序で持つのが強い。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変数を当てるのは難しい。</a:t>
            </a:r>
          </a:p>
          <a:p>
            <a:r>
              <a:t>だから設計。変数が動いても耐える設計を持つ。</a:t>
            </a:r>
          </a:p>
          <a:p>
            <a:r>
              <a:t>その設計図がライフプランで、答えは面談で出します。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ここからデータです。</a:t>
            </a:r>
          </a:p>
          <a:p>
            <a:r>
              <a:t>まず35歳夫婦・子2。余白がどれくらいで、何が乗っているかを見ます。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次に40歳単身。</a:t>
            </a:r>
          </a:p>
          <a:p>
            <a:r>
              <a:t>単身は余白が小さくなりやすく、老後不安が強く出やすい。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統計の五分位5は上位20%。年収1000万はここに入ります。</a:t>
            </a:r>
          </a:p>
          <a:p>
            <a:r>
              <a:t>ただし幅が広いので、個別は面談で数字に落とします。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ここが現実です。</a:t>
            </a:r>
          </a:p>
          <a:p>
            <a:r>
              <a:t>高年収でも余白は有限。この余白の使い方が人生設計そのものです。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ここで全体像に戻ります。</a:t>
            </a:r>
          </a:p>
          <a:p>
            <a:r>
              <a:t>税・社保・教育・老後。この4つが家計を押します。</a:t>
            </a:r>
          </a:p>
          <a:p>
            <a:r>
              <a:t>次の数枚で“変数の地図”だけ示します。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税と社保はセットです。</a:t>
            </a:r>
          </a:p>
          <a:p>
            <a:r>
              <a:t>ここを分けて考えると“手取り設計”が崩れます。</a:t>
            </a:r>
          </a:p>
          <a:p>
            <a:r>
              <a:t>面談ではあなたの条件で、影響が大きい順に整理します。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教育は家計の重なりがポイントです。</a:t>
            </a:r>
          </a:p>
          <a:p>
            <a:r>
              <a:t>重なりを見える化すると、やる順番が決まります。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老後は逆算です。</a:t>
            </a:r>
          </a:p>
          <a:p>
            <a:r>
              <a:t>XとYの差がどれくらいで、何年分あるか。</a:t>
            </a:r>
          </a:p>
          <a:p>
            <a:r>
              <a:t>Yは必ず確認。ここが面談の最重要ポイントです。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このテンプレをあなたの数字で作ります。</a:t>
            </a:r>
          </a:p>
          <a:p>
            <a:r>
              <a:t>今日は構造、面談で個別に落とします。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Persona Aは重なる時期が論点です。</a:t>
            </a:r>
          </a:p>
          <a:p>
            <a:r>
              <a:t>買う/買わないではなく耐久性。</a:t>
            </a:r>
          </a:p>
          <a:p>
            <a:r>
              <a:t>面談でストレステストを作ります。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この3問で“耐久性の弱点”が見えます。</a:t>
            </a:r>
          </a:p>
          <a:p>
            <a:r>
              <a:t>ここを数字で確認するのが面談です。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Persona Bは順序が論点です。</a:t>
            </a:r>
          </a:p>
          <a:p>
            <a:r>
              <a:t>守るが無いと投資は続きません。</a:t>
            </a:r>
          </a:p>
          <a:p>
            <a:r>
              <a:t>面談であなたの順序を作ります。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単身は同時発生に弱いので、この3問が効きます。</a:t>
            </a:r>
          </a:p>
          <a:p>
            <a:r>
              <a:t>面談で数字に落として、どこが弱いか特定します。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介護・相続は入口だけ触れます。</a:t>
            </a:r>
          </a:p>
          <a:p>
            <a:r>
              <a:t>前倒しが効くので、気になっている方は面談で整理しましょう。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まとめです。</a:t>
            </a:r>
          </a:p>
          <a:p>
            <a:r>
              <a:t>前提が動くほど、早めの可視化が強い。</a:t>
            </a:r>
          </a:p>
          <a:p>
            <a:r>
              <a:t>この後の無料面談で、あなたの設計図を作ります。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ここが今日のゴールの次の一手です。</a:t>
            </a:r>
          </a:p>
          <a:p>
            <a:r>
              <a:t>あなたの数字で設計図を作り、答えはそこで出します。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予約はこの後すぐ取れます。</a:t>
            </a:r>
          </a:p>
          <a:p>
            <a:r>
              <a:t>ねんきん定期便があると面談の精度が段違いです。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本日はありがとうございました。</a:t>
            </a:r>
          </a:p>
          <a:p>
            <a:r>
              <a:t>個別の答えは面談で。ご希望の方はこの後予約をお願いします。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182880"/>
            <a:ext cx="2011680" cy="2011680"/>
          </a:xfrm>
          <a:prstGeom prst="ellipse">
            <a:avLst/>
          </a:prstGeom>
          <a:solidFill>
            <a:srgbClr val="C7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53796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A6A6A"/>
                </a:solidFill>
                <a:latin typeface="Yu Gothic"/>
              </a:defRPr>
            </a:pPr>
            <a:r>
              <a:t>Plan B（タイムリー導入型） | 2026-02-07 v1</a:t>
            </a:r>
          </a:p>
          <a:p>
            <a:pPr algn="r">
              <a:defRPr sz="1000">
                <a:solidFill>
                  <a:srgbClr val="6A6A6A"/>
                </a:solidFill>
                <a:latin typeface="Yu Gothic"/>
              </a:defRPr>
            </a:pPr>
            <a:r>
              <a:t>1/23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400" b="1">
                <a:solidFill>
                  <a:srgbClr val="1B1B1B"/>
                </a:solidFill>
                <a:latin typeface="Yu Gothic"/>
              </a:defRPr>
            </a:pPr>
            <a:r>
              <a:t>環境が動く時代の“家計設計”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物価・金利・制度が動くほど、家計は“設計”が重要</a:t>
            </a:r>
          </a:p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答えは出しません（面談であなたの数字に落とす）</a:t>
            </a:r>
          </a:p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Version: 2026-02-07 v1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182880"/>
            <a:ext cx="2011680" cy="2011680"/>
          </a:xfrm>
          <a:prstGeom prst="ellipse">
            <a:avLst/>
          </a:prstGeom>
          <a:solidFill>
            <a:srgbClr val="C7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53796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A6A6A"/>
                </a:solidFill>
                <a:latin typeface="Yu Gothic"/>
              </a:defRPr>
            </a:pPr>
            <a:r>
              <a:t>Plan B（タイムリー導入型） | 2026-02-07 v1</a:t>
            </a:r>
          </a:p>
          <a:p>
            <a:pPr algn="r">
              <a:defRPr sz="1000">
                <a:solidFill>
                  <a:srgbClr val="6A6A6A"/>
                </a:solidFill>
                <a:latin typeface="Yu Gothic"/>
              </a:defRPr>
            </a:pPr>
            <a:r>
              <a:t>2/23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400" b="1">
                <a:solidFill>
                  <a:srgbClr val="1B1B1B"/>
                </a:solidFill>
                <a:latin typeface="Yu Gothic"/>
              </a:defRPr>
            </a:pPr>
            <a:r>
              <a:t>今日のゴール（構造と変数）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変数が動いても折れない“家計の耐久性”を理解する</a:t>
            </a:r>
          </a:p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2つのペルソナで“設計が変わる”を確認</a:t>
            </a:r>
          </a:p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答え（最適解）は面談で提示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182880"/>
            <a:ext cx="2011680" cy="2011680"/>
          </a:xfrm>
          <a:prstGeom prst="ellipse">
            <a:avLst/>
          </a:prstGeom>
          <a:solidFill>
            <a:srgbClr val="C7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53796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A6A6A"/>
                </a:solidFill>
                <a:latin typeface="Yu Gothic"/>
              </a:defRPr>
            </a:pPr>
            <a:r>
              <a:t>Plan B（タイムリー導入型） | 2026-02-07 v1</a:t>
            </a:r>
          </a:p>
          <a:p>
            <a:pPr algn="r">
              <a:defRPr sz="1000">
                <a:solidFill>
                  <a:srgbClr val="6A6A6A"/>
                </a:solidFill>
                <a:latin typeface="Yu Gothic"/>
              </a:defRPr>
            </a:pPr>
            <a:r>
              <a:t>3/23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400" b="1">
                <a:solidFill>
                  <a:srgbClr val="1B1B1B"/>
                </a:solidFill>
                <a:latin typeface="Yu Gothic"/>
              </a:defRPr>
            </a:pPr>
            <a:r>
              <a:t>アジェンダ（60分）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1. 今起きている変化（枠だけ）</a:t>
            </a:r>
          </a:p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2. データで現実を見る（A/B家計）</a:t>
            </a:r>
          </a:p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3. 四大ストレスの俯瞰（変数の地図）</a:t>
            </a:r>
          </a:p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4. 2ペルソナ比較（A→B）</a:t>
            </a:r>
          </a:p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5. 介護・相続（1枚）</a:t>
            </a:r>
          </a:p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6. 無料面談の案内（予約）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182880"/>
            <a:ext cx="2011680" cy="2011680"/>
          </a:xfrm>
          <a:prstGeom prst="ellipse">
            <a:avLst/>
          </a:prstGeom>
          <a:solidFill>
            <a:srgbClr val="C7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53796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A6A6A"/>
                </a:solidFill>
                <a:latin typeface="Yu Gothic"/>
              </a:defRPr>
            </a:pPr>
            <a:r>
              <a:t>Plan B（タイムリー導入型） | 2026-02-07 v1</a:t>
            </a:r>
          </a:p>
          <a:p>
            <a:pPr algn="r">
              <a:defRPr sz="1000">
                <a:solidFill>
                  <a:srgbClr val="6A6A6A"/>
                </a:solidFill>
                <a:latin typeface="Yu Gothic"/>
              </a:defRPr>
            </a:pPr>
            <a:r>
              <a:t>4/23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400" b="1">
                <a:solidFill>
                  <a:srgbClr val="1B1B1B"/>
                </a:solidFill>
                <a:latin typeface="Yu Gothic"/>
              </a:defRPr>
            </a:pPr>
            <a:r>
              <a:t>今起きている変化（タイムリー枠）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物価・金利: 金利のある世界に戻りつつある</a:t>
            </a:r>
          </a:p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税制: 一時的な減税や制度改正が起きる（例: 定額減税）</a:t>
            </a:r>
          </a:p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資産形成: 新NISAなど“非課税枠”の重要性が増す</a:t>
            </a:r>
          </a:p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社会保険: 子育て支援金など、負担構造が変わり得る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263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A6A6A"/>
                </a:solidFill>
                <a:latin typeface="Yu Gothic"/>
              </a:defRPr>
            </a:pPr>
            <a:r>
              <a:t>出典例（要差し替え）: 日本銀行（金融政策/金利）, 国税庁（税制）, 金融庁（NISA）, こども家庭庁（子育て支援）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182880"/>
            <a:ext cx="2011680" cy="2011680"/>
          </a:xfrm>
          <a:prstGeom prst="ellipse">
            <a:avLst/>
          </a:prstGeom>
          <a:solidFill>
            <a:srgbClr val="C7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53796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A6A6A"/>
                </a:solidFill>
                <a:latin typeface="Yu Gothic"/>
              </a:defRPr>
            </a:pPr>
            <a:r>
              <a:t>Plan B（タイムリー導入型） | 2026-02-07 v1</a:t>
            </a:r>
          </a:p>
          <a:p>
            <a:pPr algn="r">
              <a:defRPr sz="1000">
                <a:solidFill>
                  <a:srgbClr val="6A6A6A"/>
                </a:solidFill>
                <a:latin typeface="Yu Gothic"/>
              </a:defRPr>
            </a:pPr>
            <a:r>
              <a:t>5/23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400" b="1">
                <a:solidFill>
                  <a:srgbClr val="1B1B1B"/>
                </a:solidFill>
                <a:latin typeface="Yu Gothic"/>
              </a:defRPr>
            </a:pPr>
            <a:r>
              <a:t>変化がある時代に必要なこと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変数を当てるより、変数が動いても耐える設計</a:t>
            </a:r>
          </a:p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最初の一手は“現状把握（ライフプラン）”</a:t>
            </a:r>
          </a:p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今日は構造、答えは面談で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182880"/>
            <a:ext cx="2011680" cy="2011680"/>
          </a:xfrm>
          <a:prstGeom prst="ellipse">
            <a:avLst/>
          </a:prstGeom>
          <a:solidFill>
            <a:srgbClr val="C7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53796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A6A6A"/>
                </a:solidFill>
                <a:latin typeface="Yu Gothic"/>
              </a:defRPr>
            </a:pPr>
            <a:r>
              <a:t>Plan B（タイムリー導入型） | 2026-02-07 v1</a:t>
            </a:r>
          </a:p>
          <a:p>
            <a:pPr algn="r">
              <a:defRPr sz="1000">
                <a:solidFill>
                  <a:srgbClr val="6A6A6A"/>
                </a:solidFill>
                <a:latin typeface="Yu Gothic"/>
              </a:defRPr>
            </a:pPr>
            <a:r>
              <a:t>6/23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400" b="1">
                <a:solidFill>
                  <a:srgbClr val="1B1B1B"/>
                </a:solidFill>
                <a:latin typeface="Yu Gothic"/>
              </a:defRPr>
            </a:pPr>
            <a:r>
              <a:t>Persona A 家計ウォーターフォール（統計）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A6A6A"/>
                </a:solidFill>
                <a:latin typeface="Yu Gothic"/>
              </a:defRPr>
            </a:pPr>
            <a:r>
              <a:t>実収入 848,154円 → 税 74,209円 → 社保 93,919円 → 可処分 680,001円 → 消費 415,616円 → 余白 264,385円（/月）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29968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B1B1B"/>
                </a:solidFill>
                <a:latin typeface="Yu Gothic"/>
              </a:defRPr>
            </a:pPr>
            <a:r>
              <a:t>実収入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0" y="2103120"/>
            <a:ext cx="8778240" cy="256032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2048256"/>
            <a:ext cx="8778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A6A6A"/>
                </a:solidFill>
                <a:latin typeface="Yu Gothic"/>
              </a:defRPr>
            </a:pPr>
            <a:r>
              <a:t>848,154円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715768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B1B1B"/>
                </a:solidFill>
                <a:latin typeface="Yu Gothic"/>
              </a:defRPr>
            </a:pPr>
            <a:r>
              <a:t>直接税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36270" y="2788920"/>
            <a:ext cx="768049" cy="256032"/>
          </a:xfrm>
          <a:prstGeom prst="rect">
            <a:avLst/>
          </a:prstGeom>
          <a:solidFill>
            <a:srgbClr val="C7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6080" y="2734056"/>
            <a:ext cx="8778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A6A6A"/>
                </a:solidFill>
                <a:latin typeface="Yu Gothic"/>
              </a:defRPr>
            </a:pPr>
            <a:r>
              <a:t>773,945円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401568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B1B1B"/>
                </a:solidFill>
                <a:latin typeface="Yu Gothic"/>
              </a:defRPr>
            </a:pPr>
            <a:r>
              <a:t>社会保険料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964225" y="3474720"/>
            <a:ext cx="972044" cy="256032"/>
          </a:xfrm>
          <a:prstGeom prst="rect">
            <a:avLst/>
          </a:prstGeom>
          <a:solidFill>
            <a:srgbClr val="C7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26080" y="3419856"/>
            <a:ext cx="8778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A6A6A"/>
                </a:solidFill>
                <a:latin typeface="Yu Gothic"/>
              </a:defRPr>
            </a:pPr>
            <a:r>
              <a:t>680,026円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087368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B1B1B"/>
                </a:solidFill>
                <a:latin typeface="Yu Gothic"/>
              </a:defRPr>
            </a:pPr>
            <a:r>
              <a:t>消費支出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2675" y="4160520"/>
            <a:ext cx="4301550" cy="256032"/>
          </a:xfrm>
          <a:prstGeom prst="rect">
            <a:avLst/>
          </a:prstGeom>
          <a:solidFill>
            <a:srgbClr val="6A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26080" y="4105656"/>
            <a:ext cx="8778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A6A6A"/>
                </a:solidFill>
                <a:latin typeface="Yu Gothic"/>
              </a:defRPr>
            </a:pPr>
            <a:r>
              <a:t>264,410円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773168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B1B1B"/>
                </a:solidFill>
                <a:latin typeface="Yu Gothic"/>
              </a:defRPr>
            </a:pPr>
            <a:r>
              <a:t>余白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26080" y="4846320"/>
            <a:ext cx="2736336" cy="256032"/>
          </a:xfrm>
          <a:prstGeom prst="rect">
            <a:avLst/>
          </a:prstGeom>
          <a:solidFill>
            <a:srgbClr val="1E6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26080" y="4791456"/>
            <a:ext cx="8778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A6A6A"/>
                </a:solidFill>
                <a:latin typeface="Yu Gothic"/>
              </a:defRPr>
            </a:pPr>
            <a:r>
              <a:t>264,385円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6263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A6A6A"/>
                </a:solidFill>
                <a:latin typeface="Yu Gothic"/>
              </a:defRPr>
            </a:pPr>
            <a:r>
              <a:t>出典: 総務省 全国家計構造調査(2024) 家計収支(家計総合集計) 表1-30-3 e-Stat ID 0004039912 (公開 2025-12-19)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182880"/>
            <a:ext cx="2011680" cy="2011680"/>
          </a:xfrm>
          <a:prstGeom prst="ellipse">
            <a:avLst/>
          </a:prstGeom>
          <a:solidFill>
            <a:srgbClr val="C7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53796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A6A6A"/>
                </a:solidFill>
                <a:latin typeface="Yu Gothic"/>
              </a:defRPr>
            </a:pPr>
            <a:r>
              <a:t>Plan B（タイムリー導入型） | 2026-02-07 v1</a:t>
            </a:r>
          </a:p>
          <a:p>
            <a:pPr algn="r">
              <a:defRPr sz="1000">
                <a:solidFill>
                  <a:srgbClr val="6A6A6A"/>
                </a:solidFill>
                <a:latin typeface="Yu Gothic"/>
              </a:defRPr>
            </a:pPr>
            <a:r>
              <a:t>7/23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400" b="1">
                <a:solidFill>
                  <a:srgbClr val="1B1B1B"/>
                </a:solidFill>
                <a:latin typeface="Yu Gothic"/>
              </a:defRPr>
            </a:pPr>
            <a:r>
              <a:t>Persona B 家計ウォーターフォール（統計）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2588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6A6A6A"/>
                </a:solidFill>
                <a:latin typeface="Yu Gothic"/>
              </a:defRPr>
            </a:pPr>
            <a:r>
              <a:t>実収入 695,152円 → 税 97,738円 → 社保 76,837円 → 可処分 520,577円 → 消費 358,709円 → 余白 161,868円（/月）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29968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B1B1B"/>
                </a:solidFill>
                <a:latin typeface="Yu Gothic"/>
              </a:defRPr>
            </a:pPr>
            <a:r>
              <a:t>実収入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0" y="2103120"/>
            <a:ext cx="8778240" cy="256032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0" y="2048256"/>
            <a:ext cx="8778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A6A6A"/>
                </a:solidFill>
                <a:latin typeface="Yu Gothic"/>
              </a:defRPr>
            </a:pPr>
            <a:r>
              <a:t>695,152円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715768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B1B1B"/>
                </a:solidFill>
                <a:latin typeface="Yu Gothic"/>
              </a:defRPr>
            </a:pPr>
            <a:r>
              <a:t>直接税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470104" y="2788920"/>
            <a:ext cx="1234215" cy="256032"/>
          </a:xfrm>
          <a:prstGeom prst="rect">
            <a:avLst/>
          </a:prstGeom>
          <a:solidFill>
            <a:srgbClr val="C7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26080" y="2734056"/>
            <a:ext cx="8778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A6A6A"/>
                </a:solidFill>
                <a:latin typeface="Yu Gothic"/>
              </a:defRPr>
            </a:pPr>
            <a:r>
              <a:t>597,414円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401568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B1B1B"/>
                </a:solidFill>
                <a:latin typeface="Yu Gothic"/>
              </a:defRPr>
            </a:pPr>
            <a:r>
              <a:t>社会保険料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499821" y="3474720"/>
            <a:ext cx="970282" cy="256032"/>
          </a:xfrm>
          <a:prstGeom prst="rect">
            <a:avLst/>
          </a:prstGeom>
          <a:solidFill>
            <a:srgbClr val="C7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26080" y="3419856"/>
            <a:ext cx="8778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A6A6A"/>
                </a:solidFill>
                <a:latin typeface="Yu Gothic"/>
              </a:defRPr>
            </a:pPr>
            <a:r>
              <a:t>520,577円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087368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B1B1B"/>
                </a:solidFill>
                <a:latin typeface="Yu Gothic"/>
              </a:defRPr>
            </a:pPr>
            <a:r>
              <a:t>消費支出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70116" y="4160520"/>
            <a:ext cx="4529705" cy="256032"/>
          </a:xfrm>
          <a:prstGeom prst="rect">
            <a:avLst/>
          </a:prstGeom>
          <a:solidFill>
            <a:srgbClr val="6A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26080" y="4105656"/>
            <a:ext cx="8778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A6A6A"/>
                </a:solidFill>
                <a:latin typeface="Yu Gothic"/>
              </a:defRPr>
            </a:pPr>
            <a:r>
              <a:t>161,868円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773168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B1B1B"/>
                </a:solidFill>
                <a:latin typeface="Yu Gothic"/>
              </a:defRPr>
            </a:pPr>
            <a:r>
              <a:t>余白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26080" y="4846320"/>
            <a:ext cx="2044036" cy="256032"/>
          </a:xfrm>
          <a:prstGeom prst="rect">
            <a:avLst/>
          </a:prstGeom>
          <a:solidFill>
            <a:srgbClr val="1E6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26080" y="4791456"/>
            <a:ext cx="8778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A6A6A"/>
                </a:solidFill>
                <a:latin typeface="Yu Gothic"/>
              </a:defRPr>
            </a:pPr>
            <a:r>
              <a:t>161,868円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6263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A6A6A"/>
                </a:solidFill>
                <a:latin typeface="Yu Gothic"/>
              </a:defRPr>
            </a:pPr>
            <a:r>
              <a:t>出典: 総務省 全国家計構造調査(2024) 家計収支(家計総合集計) 表1-30-3 e-Stat ID 0004039912 (公開 2025-12-19)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182880"/>
            <a:ext cx="2011680" cy="2011680"/>
          </a:xfrm>
          <a:prstGeom prst="ellipse">
            <a:avLst/>
          </a:prstGeom>
          <a:solidFill>
            <a:srgbClr val="C7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53796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A6A6A"/>
                </a:solidFill>
                <a:latin typeface="Yu Gothic"/>
              </a:defRPr>
            </a:pPr>
            <a:r>
              <a:t>Plan B（タイムリー導入型） | 2026-02-07 v1</a:t>
            </a:r>
          </a:p>
          <a:p>
            <a:pPr algn="r">
              <a:defRPr sz="1000">
                <a:solidFill>
                  <a:srgbClr val="6A6A6A"/>
                </a:solidFill>
                <a:latin typeface="Yu Gothic"/>
              </a:defRPr>
            </a:pPr>
            <a:r>
              <a:t>8/23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400" b="1">
                <a:solidFill>
                  <a:srgbClr val="1B1B1B"/>
                </a:solidFill>
                <a:latin typeface="Yu Gothic"/>
              </a:defRPr>
            </a:pPr>
            <a:r>
              <a:t>年収1000万は“どの位置”か（五分位）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B1B1B"/>
                </a:solidFill>
                <a:latin typeface="Yu Gothic"/>
              </a:defRPr>
            </a:pPr>
            <a:r>
              <a:t>勤労者世帯の年間収入 五分位（上限値）の目安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2194560"/>
            <a:ext cx="3049066" cy="502920"/>
          </a:xfrm>
          <a:prstGeom prst="rect">
            <a:avLst/>
          </a:prstGeom>
          <a:solidFill>
            <a:srgbClr val="E8EE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194560"/>
            <a:ext cx="3049066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B1B1B"/>
                </a:solidFill>
                <a:latin typeface="Yu Gothic"/>
              </a:defRPr>
            </a:pPr>
            <a:r>
              <a:t>Q1</a:t>
            </a:r>
          </a:p>
        </p:txBody>
      </p:sp>
      <p:sp>
        <p:nvSpPr>
          <p:cNvPr id="9" name="Rectangle 8"/>
          <p:cNvSpPr/>
          <p:nvPr/>
        </p:nvSpPr>
        <p:spPr>
          <a:xfrm>
            <a:off x="4146346" y="2194560"/>
            <a:ext cx="1381201" cy="502920"/>
          </a:xfrm>
          <a:prstGeom prst="rect">
            <a:avLst/>
          </a:prstGeom>
          <a:solidFill>
            <a:srgbClr val="D7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46346" y="2194560"/>
            <a:ext cx="1381201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B1B1B"/>
                </a:solidFill>
                <a:latin typeface="Yu Gothic"/>
              </a:defRPr>
            </a:pPr>
            <a:r>
              <a:t>Q2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27548" y="2194560"/>
            <a:ext cx="1554937" cy="502920"/>
          </a:xfrm>
          <a:prstGeom prst="rect">
            <a:avLst/>
          </a:prstGeom>
          <a:solidFill>
            <a:srgbClr val="C2DA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27548" y="2194560"/>
            <a:ext cx="1554937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B1B1B"/>
                </a:solidFill>
                <a:latin typeface="Yu Gothic"/>
              </a:defRPr>
            </a:pPr>
            <a:r>
              <a:t>Q3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82485" y="2194560"/>
            <a:ext cx="2110892" cy="502920"/>
          </a:xfrm>
          <a:prstGeom prst="rect">
            <a:avLst/>
          </a:prstGeom>
          <a:solidFill>
            <a:srgbClr val="A9C8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82485" y="2194560"/>
            <a:ext cx="2110892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B1B1B"/>
                </a:solidFill>
                <a:latin typeface="Yu Gothic"/>
              </a:defRPr>
            </a:pPr>
            <a:r>
              <a:t>Q4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93377" y="2194560"/>
            <a:ext cx="2328062" cy="502920"/>
          </a:xfrm>
          <a:prstGeom prst="rect">
            <a:avLst/>
          </a:prstGeom>
          <a:solidFill>
            <a:srgbClr val="86B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93377" y="2194560"/>
            <a:ext cx="2328062" cy="50292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400" b="1">
                <a:solidFill>
                  <a:srgbClr val="1B1B1B"/>
                </a:solidFill>
                <a:latin typeface="Yu Gothic"/>
              </a:defRPr>
            </a:pPr>
            <a:r>
              <a:t>Q5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46346" y="2121408"/>
            <a:ext cx="2000" cy="649224"/>
          </a:xfrm>
          <a:prstGeom prst="rect">
            <a:avLst/>
          </a:prstGeom>
          <a:solidFill>
            <a:srgbClr val="6A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26306" y="27432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A6A6A"/>
                </a:solidFill>
                <a:latin typeface="Yu Gothic"/>
              </a:defRPr>
            </a:pPr>
            <a:r>
              <a:t>351万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527548" y="2121408"/>
            <a:ext cx="2000" cy="649224"/>
          </a:xfrm>
          <a:prstGeom prst="rect">
            <a:avLst/>
          </a:prstGeom>
          <a:solidFill>
            <a:srgbClr val="6A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07508" y="27432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A6A6A"/>
                </a:solidFill>
                <a:latin typeface="Yu Gothic"/>
              </a:defRPr>
            </a:pPr>
            <a:r>
              <a:t>510万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82485" y="2121408"/>
            <a:ext cx="2000" cy="649224"/>
          </a:xfrm>
          <a:prstGeom prst="rect">
            <a:avLst/>
          </a:prstGeom>
          <a:solidFill>
            <a:srgbClr val="6A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2445" y="27432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A6A6A"/>
                </a:solidFill>
                <a:latin typeface="Yu Gothic"/>
              </a:defRPr>
            </a:pPr>
            <a:r>
              <a:t>689万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93377" y="2121408"/>
            <a:ext cx="2000" cy="649224"/>
          </a:xfrm>
          <a:prstGeom prst="rect">
            <a:avLst/>
          </a:prstGeom>
          <a:solidFill>
            <a:srgbClr val="6A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73337" y="274320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A6A6A"/>
                </a:solidFill>
                <a:latin typeface="Yu Gothic"/>
              </a:defRPr>
            </a:pPr>
            <a:r>
              <a:t>932万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9646920" y="1691640"/>
            <a:ext cx="274320" cy="411480"/>
          </a:xfrm>
          <a:prstGeom prst="downArrow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81160" y="1444752"/>
            <a:ext cx="1005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B42318"/>
                </a:solidFill>
                <a:latin typeface="Yu Gothic"/>
              </a:defRPr>
            </a:pPr>
            <a:r>
              <a:t>年収1000万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97280" y="3063240"/>
            <a:ext cx="104241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1B1B1B"/>
                </a:solidFill>
                <a:latin typeface="Yu Gothic"/>
              </a:defRPr>
            </a:pPr>
            <a:r>
              <a:t>年収1000万円は“五分位5（上位20%）”に入る</a:t>
            </a:r>
          </a:p>
          <a:p>
            <a:pPr>
              <a:defRPr sz="1800">
                <a:solidFill>
                  <a:srgbClr val="1B1B1B"/>
                </a:solidFill>
                <a:latin typeface="Yu Gothic"/>
              </a:defRPr>
            </a:pPr>
            <a:r>
              <a:t>ただし五分位5は『1000万以上』ではなく、932万超の上位20%なので幅が広い</a:t>
            </a:r>
          </a:p>
          <a:p>
            <a:pPr>
              <a:defRPr sz="1800">
                <a:solidFill>
                  <a:srgbClr val="1B1B1B"/>
                </a:solidFill>
                <a:latin typeface="Yu Gothic"/>
              </a:defRPr>
            </a:pPr>
            <a:r>
              <a:t>本セミナーは『高年収層の家計構造の近似』として五分位5データを使う（個別の答えは面談で）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6263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A6A6A"/>
                </a:solidFill>
                <a:latin typeface="Yu Gothic"/>
              </a:defRPr>
            </a:pPr>
            <a:r>
              <a:t>出典: 総務省 全国家計構造調査(2024) 家計収支(家計総合集計) 表1-30-3 e-Stat ID 0004039912 (公開 2025-12-19)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182880"/>
            <a:ext cx="2011680" cy="2011680"/>
          </a:xfrm>
          <a:prstGeom prst="ellipse">
            <a:avLst/>
          </a:prstGeom>
          <a:solidFill>
            <a:srgbClr val="C7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53796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A6A6A"/>
                </a:solidFill>
                <a:latin typeface="Yu Gothic"/>
              </a:defRPr>
            </a:pPr>
            <a:r>
              <a:t>Plan B（タイムリー導入型） | 2026-02-07 v1</a:t>
            </a:r>
          </a:p>
          <a:p>
            <a:pPr algn="r">
              <a:defRPr sz="1000">
                <a:solidFill>
                  <a:srgbClr val="6A6A6A"/>
                </a:solidFill>
                <a:latin typeface="Yu Gothic"/>
              </a:defRPr>
            </a:pPr>
            <a:r>
              <a:t>9/23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400" b="1">
                <a:solidFill>
                  <a:srgbClr val="1B1B1B"/>
                </a:solidFill>
                <a:latin typeface="Yu Gothic"/>
              </a:defRPr>
            </a:pPr>
            <a:r>
              <a:t>結論（前半）: 高年収でも“余白は有限”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Persona A 余白: 約26.4万円/月（統計）</a:t>
            </a:r>
          </a:p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Persona B 余白: 約16.2万円/月（統計）</a:t>
            </a:r>
          </a:p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余白にすべてのイベントが乗る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263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A6A6A"/>
                </a:solidFill>
                <a:latin typeface="Yu Gothic"/>
              </a:defRPr>
            </a:pPr>
            <a:r>
              <a:t>出典: 総務省 全国家計構造調査(2024) 家計収支(家計総合集計) 表1-30-3 e-Stat ID 0004039912 (公開 2025-12-19)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182880"/>
            <a:ext cx="2011680" cy="2011680"/>
          </a:xfrm>
          <a:prstGeom prst="ellipse">
            <a:avLst/>
          </a:prstGeom>
          <a:solidFill>
            <a:srgbClr val="C7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53796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A6A6A"/>
                </a:solidFill>
                <a:latin typeface="Yu Gothic"/>
              </a:defRPr>
            </a:pPr>
            <a:r>
              <a:t>Plan B（タイムリー導入型） | 2026-02-07 v1</a:t>
            </a:r>
          </a:p>
          <a:p>
            <a:pPr algn="r">
              <a:defRPr sz="1000">
                <a:solidFill>
                  <a:srgbClr val="6A6A6A"/>
                </a:solidFill>
                <a:latin typeface="Yu Gothic"/>
              </a:defRPr>
            </a:pPr>
            <a:r>
              <a:t>10/23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400" b="1">
                <a:solidFill>
                  <a:srgbClr val="1B1B1B"/>
                </a:solidFill>
                <a:latin typeface="Yu Gothic"/>
              </a:defRPr>
            </a:pPr>
            <a:r>
              <a:t>四大ストレスを1枚で俯瞰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00200"/>
            <a:ext cx="539496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600200"/>
            <a:ext cx="164592" cy="1783080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764792"/>
            <a:ext cx="493776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1B1B"/>
                </a:solidFill>
                <a:latin typeface="Yu Gothic"/>
              </a:defRPr>
            </a:pPr>
            <a:r>
              <a:t>税金</a:t>
            </a:r>
          </a:p>
          <a:p>
            <a:pPr>
              <a:defRPr sz="1600">
                <a:solidFill>
                  <a:srgbClr val="6A6A6A"/>
                </a:solidFill>
                <a:latin typeface="Yu Gothic"/>
              </a:defRPr>
            </a:pPr>
            <a:r>
              <a:t>所得税・住民税</a:t>
            </a:r>
            <a:br/>
            <a:r>
              <a:t>(手取りを削る)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600200"/>
            <a:ext cx="539496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1600200"/>
            <a:ext cx="164592" cy="1783080"/>
          </a:xfrm>
          <a:prstGeom prst="rect">
            <a:avLst/>
          </a:prstGeom>
          <a:solidFill>
            <a:srgbClr val="C7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20840" y="1764792"/>
            <a:ext cx="493776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1B1B"/>
                </a:solidFill>
                <a:latin typeface="Yu Gothic"/>
              </a:defRPr>
            </a:pPr>
            <a:r>
              <a:t>社会保険</a:t>
            </a:r>
          </a:p>
          <a:p>
            <a:pPr>
              <a:defRPr sz="1600">
                <a:solidFill>
                  <a:srgbClr val="6A6A6A"/>
                </a:solidFill>
                <a:latin typeface="Yu Gothic"/>
              </a:defRPr>
            </a:pPr>
            <a:r>
              <a:t>健康保険・年金</a:t>
            </a:r>
            <a:br/>
            <a:r>
              <a:t>(見落とされがち)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703320"/>
            <a:ext cx="539496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" y="3703320"/>
            <a:ext cx="164592" cy="1783080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3867912"/>
            <a:ext cx="493776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1B1B"/>
                </a:solidFill>
                <a:latin typeface="Yu Gothic"/>
              </a:defRPr>
            </a:pPr>
            <a:r>
              <a:t>教育資金</a:t>
            </a:r>
          </a:p>
          <a:p>
            <a:pPr>
              <a:defRPr sz="1600">
                <a:solidFill>
                  <a:srgbClr val="6A6A6A"/>
                </a:solidFill>
                <a:latin typeface="Yu Gothic"/>
              </a:defRPr>
            </a:pPr>
            <a:r>
              <a:t>いつ・何人・公立私立</a:t>
            </a:r>
            <a:br/>
            <a:r>
              <a:t>(重なる)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3703320"/>
            <a:ext cx="539496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3703320"/>
            <a:ext cx="164592" cy="1783080"/>
          </a:xfrm>
          <a:prstGeom prst="rect">
            <a:avLst/>
          </a:prstGeom>
          <a:solidFill>
            <a:srgbClr val="0E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0840" y="3867912"/>
            <a:ext cx="493776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B1B1B"/>
                </a:solidFill>
                <a:latin typeface="Yu Gothic"/>
              </a:defRPr>
            </a:pPr>
            <a:r>
              <a:t>老後資金</a:t>
            </a:r>
          </a:p>
          <a:p>
            <a:pPr>
              <a:defRPr sz="1600">
                <a:solidFill>
                  <a:srgbClr val="6A6A6A"/>
                </a:solidFill>
                <a:latin typeface="Yu Gothic"/>
              </a:defRPr>
            </a:pPr>
            <a:r>
              <a:t>生活水準×長寿</a:t>
            </a:r>
            <a:br/>
            <a:r>
              <a:t>(逆算が必要)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182880"/>
            <a:ext cx="2011680" cy="2011680"/>
          </a:xfrm>
          <a:prstGeom prst="ellipse">
            <a:avLst/>
          </a:prstGeom>
          <a:solidFill>
            <a:srgbClr val="C7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53796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A6A6A"/>
                </a:solidFill>
                <a:latin typeface="Yu Gothic"/>
              </a:defRPr>
            </a:pPr>
            <a:r>
              <a:t>Plan B（タイムリー導入型） | 2026-02-07 v1</a:t>
            </a:r>
          </a:p>
          <a:p>
            <a:pPr algn="r">
              <a:defRPr sz="1000">
                <a:solidFill>
                  <a:srgbClr val="6A6A6A"/>
                </a:solidFill>
                <a:latin typeface="Yu Gothic"/>
              </a:defRPr>
            </a:pPr>
            <a:r>
              <a:t>11/23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400" b="1">
                <a:solidFill>
                  <a:srgbClr val="1B1B1B"/>
                </a:solidFill>
                <a:latin typeface="Yu Gothic"/>
              </a:defRPr>
            </a:pPr>
            <a:r>
              <a:t>税・社会保険（何が増やすか）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税: 所得・控除・家族構成・所得の形</a:t>
            </a:r>
          </a:p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社保: 標準報酬月額・年齢・扶養</a:t>
            </a:r>
          </a:p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ポイント: 税と社保はセットで見る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182880"/>
            <a:ext cx="2011680" cy="2011680"/>
          </a:xfrm>
          <a:prstGeom prst="ellipse">
            <a:avLst/>
          </a:prstGeom>
          <a:solidFill>
            <a:srgbClr val="C7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53796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A6A6A"/>
                </a:solidFill>
                <a:latin typeface="Yu Gothic"/>
              </a:defRPr>
            </a:pPr>
            <a:r>
              <a:t>Plan B（タイムリー導入型） | 2026-02-07 v1</a:t>
            </a:r>
          </a:p>
          <a:p>
            <a:pPr algn="r">
              <a:defRPr sz="1000">
                <a:solidFill>
                  <a:srgbClr val="6A6A6A"/>
                </a:solidFill>
                <a:latin typeface="Yu Gothic"/>
              </a:defRPr>
            </a:pPr>
            <a:r>
              <a:t>12/23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400" b="1">
                <a:solidFill>
                  <a:srgbClr val="1B1B1B"/>
                </a:solidFill>
                <a:latin typeface="Yu Gothic"/>
              </a:defRPr>
            </a:pPr>
            <a:r>
              <a:t>教育（何が効くか）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金額よりタイミング（住宅・老後との重なり）</a:t>
            </a:r>
          </a:p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人数、公立私立、塾、進路で大きく変わる</a:t>
            </a:r>
          </a:p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重なりを可視化して“余白の使い方”を決める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182880"/>
            <a:ext cx="2011680" cy="2011680"/>
          </a:xfrm>
          <a:prstGeom prst="ellipse">
            <a:avLst/>
          </a:prstGeom>
          <a:solidFill>
            <a:srgbClr val="C7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53796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A6A6A"/>
                </a:solidFill>
                <a:latin typeface="Yu Gothic"/>
              </a:defRPr>
            </a:pPr>
            <a:r>
              <a:t>Plan B（タイムリー導入型） | 2026-02-07 v1</a:t>
            </a:r>
          </a:p>
          <a:p>
            <a:pPr algn="r">
              <a:defRPr sz="1000">
                <a:solidFill>
                  <a:srgbClr val="6A6A6A"/>
                </a:solidFill>
                <a:latin typeface="Yu Gothic"/>
              </a:defRPr>
            </a:pPr>
            <a:r>
              <a:t>13/23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400" b="1">
                <a:solidFill>
                  <a:srgbClr val="1B1B1B"/>
                </a:solidFill>
                <a:latin typeface="Yu Gothic"/>
              </a:defRPr>
            </a:pPr>
            <a:r>
              <a:t>老後（逆算の公式）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生活費X － 年金Y = ギャップ</a:t>
            </a:r>
          </a:p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ラチェット効果で生活水準は下げにくい</a:t>
            </a:r>
          </a:p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Yはねんきん定期便で確認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182880"/>
            <a:ext cx="2011680" cy="2011680"/>
          </a:xfrm>
          <a:prstGeom prst="ellipse">
            <a:avLst/>
          </a:prstGeom>
          <a:solidFill>
            <a:srgbClr val="C7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53796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A6A6A"/>
                </a:solidFill>
                <a:latin typeface="Yu Gothic"/>
              </a:defRPr>
            </a:pPr>
            <a:r>
              <a:t>Plan B（タイムリー導入型） | 2026-02-07 v1</a:t>
            </a:r>
          </a:p>
          <a:p>
            <a:pPr algn="r">
              <a:defRPr sz="1000">
                <a:solidFill>
                  <a:srgbClr val="6A6A6A"/>
                </a:solidFill>
                <a:latin typeface="Yu Gothic"/>
              </a:defRPr>
            </a:pPr>
            <a:r>
              <a:t>14/23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400" b="1">
                <a:solidFill>
                  <a:srgbClr val="1B1B1B"/>
                </a:solidFill>
                <a:latin typeface="Yu Gothic"/>
              </a:defRPr>
            </a:pPr>
            <a:r>
              <a:t>老後逆算グラフ（テンプレ）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63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1B1B"/>
                </a:solidFill>
                <a:latin typeface="Yu Gothic"/>
              </a:defRPr>
            </a:pPr>
            <a:r>
              <a:t>老後の逆算（テンプレ）: 生活費X － 年金Y = ギャップ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B1B1B"/>
                </a:solidFill>
                <a:latin typeface="Yu Gothic"/>
              </a:defRPr>
            </a:pPr>
            <a:r>
              <a:t>生活費 X</a:t>
            </a:r>
          </a:p>
        </p:txBody>
      </p:sp>
      <p:sp>
        <p:nvSpPr>
          <p:cNvPr id="8" name="Rectangle 7"/>
          <p:cNvSpPr/>
          <p:nvPr/>
        </p:nvSpPr>
        <p:spPr>
          <a:xfrm>
            <a:off x="3291840" y="2542032"/>
            <a:ext cx="8046720" cy="502920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48288" y="246888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A6A6A"/>
                </a:solidFill>
                <a:latin typeface="Yu Gothic"/>
              </a:defRPr>
            </a:pPr>
            <a:r>
              <a:t>420,000円/月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33756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B1B1B"/>
                </a:solidFill>
                <a:latin typeface="Yu Gothic"/>
              </a:defRPr>
            </a:pPr>
            <a:r>
              <a:t>年金 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91840" y="3410712"/>
            <a:ext cx="4828032" cy="502920"/>
          </a:xfrm>
          <a:prstGeom prst="rect">
            <a:avLst/>
          </a:prstGeom>
          <a:solidFill>
            <a:srgbClr val="0E7C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333756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A6A6A"/>
                </a:solidFill>
                <a:latin typeface="Yu Gothic"/>
              </a:defRPr>
            </a:pPr>
            <a:r>
              <a:t>252,000円/月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20624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1B1B1B"/>
                </a:solidFill>
                <a:latin typeface="Yu Gothic"/>
              </a:defRPr>
            </a:pPr>
            <a:r>
              <a:t>ギャップ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4279392"/>
            <a:ext cx="3218688" cy="502920"/>
          </a:xfrm>
          <a:prstGeom prst="rect">
            <a:avLst/>
          </a:prstGeom>
          <a:solidFill>
            <a:srgbClr val="B42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0256" y="420624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6A6A6A"/>
                </a:solidFill>
                <a:latin typeface="Yu Gothic"/>
              </a:defRPr>
            </a:pPr>
            <a:r>
              <a:t>168,000円/月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5166360"/>
            <a:ext cx="1042416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E2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B1B1B"/>
                </a:solidFill>
                <a:latin typeface="Yu Gothic"/>
              </a:defRPr>
            </a:pPr>
            <a:r>
              <a:t>ポイント: Y（年金）は人によって千差万別。ねんきん定期便で“確定”させる</a:t>
            </a:r>
          </a:p>
          <a:p>
            <a:pPr>
              <a:defRPr sz="1800">
                <a:solidFill>
                  <a:srgbClr val="1B1B1B"/>
                </a:solidFill>
                <a:latin typeface="Yu Gothic"/>
              </a:defRPr>
            </a:pPr>
            <a:r>
              <a:t>このテンプレを“自分の数字”に落とすのが、今日のゴールの次の一手（無料面談）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A6A6A"/>
                </a:solidFill>
                <a:latin typeface="Yu Gothic"/>
              </a:defRPr>
            </a:pPr>
            <a:r>
              <a:t>※棒グラフのYは説明用の例（Xの60%）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182880"/>
            <a:ext cx="2011680" cy="2011680"/>
          </a:xfrm>
          <a:prstGeom prst="ellipse">
            <a:avLst/>
          </a:prstGeom>
          <a:solidFill>
            <a:srgbClr val="C7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53796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A6A6A"/>
                </a:solidFill>
                <a:latin typeface="Yu Gothic"/>
              </a:defRPr>
            </a:pPr>
            <a:r>
              <a:t>Plan B（タイムリー導入型） | 2026-02-07 v1</a:t>
            </a:r>
          </a:p>
          <a:p>
            <a:pPr algn="r">
              <a:defRPr sz="1000">
                <a:solidFill>
                  <a:srgbClr val="6A6A6A"/>
                </a:solidFill>
                <a:latin typeface="Yu Gothic"/>
              </a:defRPr>
            </a:pPr>
            <a:r>
              <a:t>15/23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400" b="1">
                <a:solidFill>
                  <a:srgbClr val="1B1B1B"/>
                </a:solidFill>
                <a:latin typeface="Yu Gothic"/>
              </a:defRPr>
            </a:pPr>
            <a:r>
              <a:t>Persona A: “重なる時期”の話だけ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住宅×教育×老後が重なると余白が消える</a:t>
            </a:r>
          </a:p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買う/買わないではなく耐久性（ストレステスト）</a:t>
            </a:r>
          </a:p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折れる点を先に知る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182880"/>
            <a:ext cx="2011680" cy="2011680"/>
          </a:xfrm>
          <a:prstGeom prst="ellipse">
            <a:avLst/>
          </a:prstGeom>
          <a:solidFill>
            <a:srgbClr val="C7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53796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A6A6A"/>
                </a:solidFill>
                <a:latin typeface="Yu Gothic"/>
              </a:defRPr>
            </a:pPr>
            <a:r>
              <a:t>Plan B（タイムリー導入型） | 2026-02-07 v1</a:t>
            </a:r>
          </a:p>
          <a:p>
            <a:pPr algn="r">
              <a:defRPr sz="1000">
                <a:solidFill>
                  <a:srgbClr val="6A6A6A"/>
                </a:solidFill>
                <a:latin typeface="Yu Gothic"/>
              </a:defRPr>
            </a:pPr>
            <a:r>
              <a:t>16/23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400" b="1">
                <a:solidFill>
                  <a:srgbClr val="1B1B1B"/>
                </a:solidFill>
                <a:latin typeface="Yu Gothic"/>
              </a:defRPr>
            </a:pPr>
            <a:r>
              <a:t>Persona A: 耐久性チェック（自己診断3問）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金利が上がっても返済が回るか？</a:t>
            </a:r>
          </a:p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教育費の山が来る時期に余白が残るか？</a:t>
            </a:r>
          </a:p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休職などで手取りが落ちても固定費が耐えるか？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182880"/>
            <a:ext cx="2011680" cy="2011680"/>
          </a:xfrm>
          <a:prstGeom prst="ellipse">
            <a:avLst/>
          </a:prstGeom>
          <a:solidFill>
            <a:srgbClr val="C7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53796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A6A6A"/>
                </a:solidFill>
                <a:latin typeface="Yu Gothic"/>
              </a:defRPr>
            </a:pPr>
            <a:r>
              <a:t>Plan B（タイムリー導入型） | 2026-02-07 v1</a:t>
            </a:r>
          </a:p>
          <a:p>
            <a:pPr algn="r">
              <a:defRPr sz="1000">
                <a:solidFill>
                  <a:srgbClr val="6A6A6A"/>
                </a:solidFill>
                <a:latin typeface="Yu Gothic"/>
              </a:defRPr>
            </a:pPr>
            <a:r>
              <a:t>17/23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400" b="1">
                <a:solidFill>
                  <a:srgbClr val="1B1B1B"/>
                </a:solidFill>
                <a:latin typeface="Yu Gothic"/>
              </a:defRPr>
            </a:pPr>
            <a:r>
              <a:t>Persona B: “順序”の話だけ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単身はクッションが薄いので、順序が超重要</a:t>
            </a:r>
          </a:p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守る→増やす→最適化</a:t>
            </a:r>
          </a:p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いきなり正解探しをしない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182880"/>
            <a:ext cx="2011680" cy="2011680"/>
          </a:xfrm>
          <a:prstGeom prst="ellipse">
            <a:avLst/>
          </a:prstGeom>
          <a:solidFill>
            <a:srgbClr val="C7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53796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A6A6A"/>
                </a:solidFill>
                <a:latin typeface="Yu Gothic"/>
              </a:defRPr>
            </a:pPr>
            <a:r>
              <a:t>Plan B（タイムリー導入型） | 2026-02-07 v1</a:t>
            </a:r>
          </a:p>
          <a:p>
            <a:pPr algn="r">
              <a:defRPr sz="1000">
                <a:solidFill>
                  <a:srgbClr val="6A6A6A"/>
                </a:solidFill>
                <a:latin typeface="Yu Gothic"/>
              </a:defRPr>
            </a:pPr>
            <a:r>
              <a:t>18/23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400" b="1">
                <a:solidFill>
                  <a:srgbClr val="1B1B1B"/>
                </a:solidFill>
                <a:latin typeface="Yu Gothic"/>
              </a:defRPr>
            </a:pPr>
            <a:r>
              <a:t>Persona B: 耐久性チェック（自己診断3問）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市場が下がっても“取り崩さず”続けられるか？</a:t>
            </a:r>
          </a:p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生活イベントが来ても固定費が耐えるか？</a:t>
            </a:r>
          </a:p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老後ギャップを“年数”で把握しているか？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182880"/>
            <a:ext cx="2011680" cy="2011680"/>
          </a:xfrm>
          <a:prstGeom prst="ellipse">
            <a:avLst/>
          </a:prstGeom>
          <a:solidFill>
            <a:srgbClr val="C7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53796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A6A6A"/>
                </a:solidFill>
                <a:latin typeface="Yu Gothic"/>
              </a:defRPr>
            </a:pPr>
            <a:r>
              <a:t>Plan B（タイムリー導入型） | 2026-02-07 v1</a:t>
            </a:r>
          </a:p>
          <a:p>
            <a:pPr algn="r">
              <a:defRPr sz="1000">
                <a:solidFill>
                  <a:srgbClr val="6A6A6A"/>
                </a:solidFill>
                <a:latin typeface="Yu Gothic"/>
              </a:defRPr>
            </a:pPr>
            <a:r>
              <a:t>19/23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400" b="1">
                <a:solidFill>
                  <a:srgbClr val="1B1B1B"/>
                </a:solidFill>
                <a:latin typeface="Yu Gothic"/>
              </a:defRPr>
            </a:pPr>
            <a:r>
              <a:t>介護・相続（1枚だけ）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介護費用、実家、きょうだい調整</a:t>
            </a:r>
          </a:p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入口: 親の資産棚卸し・意思確認</a:t>
            </a:r>
          </a:p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必要なら面談で整理し、専門家連携も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182880"/>
            <a:ext cx="2011680" cy="2011680"/>
          </a:xfrm>
          <a:prstGeom prst="ellipse">
            <a:avLst/>
          </a:prstGeom>
          <a:solidFill>
            <a:srgbClr val="C7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53796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A6A6A"/>
                </a:solidFill>
                <a:latin typeface="Yu Gothic"/>
              </a:defRPr>
            </a:pPr>
            <a:r>
              <a:t>Plan B（タイムリー導入型） | 2026-02-07 v1</a:t>
            </a:r>
          </a:p>
          <a:p>
            <a:pPr algn="r">
              <a:defRPr sz="1000">
                <a:solidFill>
                  <a:srgbClr val="6A6A6A"/>
                </a:solidFill>
                <a:latin typeface="Yu Gothic"/>
              </a:defRPr>
            </a:pPr>
            <a:r>
              <a:t>20/23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400" b="1">
                <a:solidFill>
                  <a:srgbClr val="1B1B1B"/>
                </a:solidFill>
                <a:latin typeface="Yu Gothic"/>
              </a:defRPr>
            </a:pPr>
            <a:r>
              <a:t>結論（後半）: 早めの対策 = 早めに見える化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前提が動く時代ほど“可視化”が強い</a:t>
            </a:r>
          </a:p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自分の家計の構造を把握し、順序で打つ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182880"/>
            <a:ext cx="2011680" cy="2011680"/>
          </a:xfrm>
          <a:prstGeom prst="ellipse">
            <a:avLst/>
          </a:prstGeom>
          <a:solidFill>
            <a:srgbClr val="C7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53796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A6A6A"/>
                </a:solidFill>
                <a:latin typeface="Yu Gothic"/>
              </a:defRPr>
            </a:pPr>
            <a:r>
              <a:t>Plan B（タイムリー導入型） | 2026-02-07 v1</a:t>
            </a:r>
          </a:p>
          <a:p>
            <a:pPr algn="r">
              <a:defRPr sz="1000">
                <a:solidFill>
                  <a:srgbClr val="6A6A6A"/>
                </a:solidFill>
                <a:latin typeface="Yu Gothic"/>
              </a:defRPr>
            </a:pPr>
            <a:r>
              <a:t>21/23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400" b="1">
                <a:solidFill>
                  <a:srgbClr val="1B1B1B"/>
                </a:solidFill>
                <a:latin typeface="Yu Gothic"/>
              </a:defRPr>
            </a:pPr>
            <a:r>
              <a:t>無料個別面談の案内（何が得られるか）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ライフプラン作成（家計BS/CF）</a:t>
            </a:r>
          </a:p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老後逆算グラフ（あなたの年金で）</a:t>
            </a:r>
          </a:p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住宅・教育・老後の重なり可視化</a:t>
            </a:r>
          </a:p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答え（最適解候補）は面談で提示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182880"/>
            <a:ext cx="2011680" cy="2011680"/>
          </a:xfrm>
          <a:prstGeom prst="ellipse">
            <a:avLst/>
          </a:prstGeom>
          <a:solidFill>
            <a:srgbClr val="C7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53796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A6A6A"/>
                </a:solidFill>
                <a:latin typeface="Yu Gothic"/>
              </a:defRPr>
            </a:pPr>
            <a:r>
              <a:t>Plan B（タイムリー導入型） | 2026-02-07 v1</a:t>
            </a:r>
          </a:p>
          <a:p>
            <a:pPr algn="r">
              <a:defRPr sz="1000">
                <a:solidFill>
                  <a:srgbClr val="6A6A6A"/>
                </a:solidFill>
                <a:latin typeface="Yu Gothic"/>
              </a:defRPr>
            </a:pPr>
            <a:r>
              <a:t>22/23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400" b="1">
                <a:solidFill>
                  <a:srgbClr val="1B1B1B"/>
                </a:solidFill>
                <a:latin typeface="Yu Gothic"/>
              </a:defRPr>
            </a:pPr>
            <a:r>
              <a:t>予約方法（QR/用紙/ブース）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この後すぐ予約可能（30秒）</a:t>
            </a:r>
          </a:p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持ち物: ねんきん定期便、家計概算、住宅ローン情報（あれば）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B3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182880"/>
            <a:ext cx="2011680" cy="2011680"/>
          </a:xfrm>
          <a:prstGeom prst="ellipse">
            <a:avLst/>
          </a:prstGeom>
          <a:solidFill>
            <a:srgbClr val="C754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53796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A6A6A"/>
                </a:solidFill>
                <a:latin typeface="Yu Gothic"/>
              </a:defRPr>
            </a:pPr>
            <a:r>
              <a:t>Plan B（タイムリー導入型） | 2026-02-07 v1</a:t>
            </a:r>
          </a:p>
          <a:p>
            <a:pPr algn="r">
              <a:defRPr sz="1000">
                <a:solidFill>
                  <a:srgbClr val="6A6A6A"/>
                </a:solidFill>
                <a:latin typeface="Yu Gothic"/>
              </a:defRPr>
            </a:pPr>
            <a:r>
              <a:t>23/23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10972800" cy="822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3400" b="1">
                <a:solidFill>
                  <a:srgbClr val="1B1B1B"/>
                </a:solidFill>
                <a:latin typeface="Yu Gothic"/>
              </a:defRPr>
            </a:pPr>
            <a:r>
              <a:t>免責・注意 + ありがとうございました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4173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一般情報。税務/法務は個別事情が必要</a:t>
            </a:r>
          </a:p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制度は改正されます（最新情報で更新）</a:t>
            </a:r>
          </a:p>
          <a:p>
            <a:pPr>
              <a:defRPr sz="2200">
                <a:solidFill>
                  <a:srgbClr val="1B1B1B"/>
                </a:solidFill>
                <a:latin typeface="Yu Gothic"/>
              </a:defRPr>
            </a:pPr>
            <a:r>
              <a:t>ご希望の方は無料面談へ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