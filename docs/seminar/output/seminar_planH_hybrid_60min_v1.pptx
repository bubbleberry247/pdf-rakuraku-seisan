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今日は“当てる話”ではなく、“耐える設計”の話です。</a:t>
            </a:r>
          </a:p>
          <a:p>
            <a:r>
              <a:t>年収が高くても、税・社保・教育・老後が重なると余白は想像以上に薄くなります。</a:t>
            </a:r>
          </a:p>
          <a:p>
            <a:r>
              <a:t>今日は構造とテンプレまで。</a:t>
            </a:r>
          </a:p>
          <a:p>
            <a:r>
              <a:t>あなたの数字に落として最適解候補を出すのは、無料の個別面談で行います。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最初に約束です。</a:t>
            </a:r>
          </a:p>
          <a:p>
            <a:r>
              <a:t>今日は構造と変数、テンプレまで。</a:t>
            </a:r>
          </a:p>
          <a:p>
            <a:r>
              <a:t>『あなたはこれを買うべき』や『投資配分の正解』はやりません。</a:t>
            </a:r>
          </a:p>
          <a:p>
            <a:r>
              <a:t>個別判断は、面談で数字を確定させてから行います。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流れはこの6つです。</a:t>
            </a:r>
          </a:p>
          <a:p>
            <a:r>
              <a:t>前半はデータで現実を見て、後半は2つの代表ケースで腹落ちさせます。</a:t>
            </a:r>
          </a:p>
          <a:p>
            <a:r>
              <a:t>最後に介護・相続は1枚だけ触れ、無料面談の予約で締めます。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ここは未来予測が目的ではありません。</a:t>
            </a:r>
          </a:p>
          <a:p>
            <a:r>
              <a:t>前提が揺れる時代ほど、当てにいくより、動いても折れない設計が強い。</a:t>
            </a:r>
          </a:p>
          <a:p>
            <a:r>
              <a:t>次からデータで『余白がどれくらいか』を見ます。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富裕層のストレスは大きく4つに集約されます。</a:t>
            </a:r>
          </a:p>
          <a:p>
            <a:r>
              <a:t>税・社会保険・教育・老後。</a:t>
            </a:r>
          </a:p>
          <a:p>
            <a:r>
              <a:t>今日はこの4つを“変数”で整理します。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年収が上がっても手取りが増えた気がしない。</a:t>
            </a:r>
          </a:p>
          <a:p>
            <a:r>
              <a:t>理由は構造で説明できます。</a:t>
            </a:r>
          </a:p>
          <a:p>
            <a:r>
              <a:t>次にデータで、どれくらい余白が残るかを見ます。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統計の五分位5は上位20%。年収1000万はここに入ります。</a:t>
            </a:r>
          </a:p>
          <a:p>
            <a:r>
              <a:t>ただし五分位5は幅が広いので、今日は“家計構造の近似”として見ます。</a:t>
            </a:r>
          </a:p>
          <a:p>
            <a:r>
              <a:t>個別は面談であなたの数字に落とします。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まず35歳夫婦・子2の代表ケースです。</a:t>
            </a:r>
          </a:p>
          <a:p>
            <a:r>
              <a:t>実収入から税・社保を引いた可処分所得。</a:t>
            </a:r>
          </a:p>
          <a:p>
            <a:r>
              <a:t>消費のあとに余白がいくら残るか。ここに全部乗ります。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次に40歳単身の代表ケースです（離婚後単身も含みます）。</a:t>
            </a:r>
          </a:p>
          <a:p>
            <a:r>
              <a:t>単身は税が重く見えやすく、余白が小さくなりがちです。</a:t>
            </a:r>
          </a:p>
          <a:p>
            <a:r>
              <a:t>この余白の薄さが、老後不安や運用の焦りに直結します。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ここが今日の一つ目の結論です。</a:t>
            </a:r>
          </a:p>
          <a:p>
            <a:r>
              <a:t>高年収でも余白は有限。</a:t>
            </a:r>
          </a:p>
          <a:p>
            <a:r>
              <a:t>余白の使い方が人生設計そのものになります。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FP実務はこの6ステップで進めます。</a:t>
            </a:r>
          </a:p>
          <a:p>
            <a:r>
              <a:t>今日のセミナーはSTEP1〜2まで（構造と変数、テンプレ）。</a:t>
            </a:r>
          </a:p>
          <a:p>
            <a:r>
              <a:t>面談でSTEP3〜6を、あなたの数字で完成させます。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これが“変数の地図”です。</a:t>
            </a:r>
          </a:p>
          <a:p>
            <a:r>
              <a:t>ポイントは1個ずつではなく“重なり”で家計が折れること。</a:t>
            </a:r>
          </a:p>
          <a:p>
            <a:r>
              <a:t>次に制度が動く例を1つだけ見て、すぐテンプレに入ります。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税制は毎年動きます。</a:t>
            </a:r>
          </a:p>
          <a:p>
            <a:r>
              <a:t>細かい制度を暗記するより、家計側の耐久性を上げる方が再現性が高い。</a:t>
            </a:r>
          </a:p>
          <a:p>
            <a:r>
              <a:t>制度活用は最後に最適化で十分です。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高額療養費は重要な制度です。</a:t>
            </a:r>
          </a:p>
          <a:p>
            <a:r>
              <a:t>ただしゼロになる制度ではない。</a:t>
            </a:r>
          </a:p>
          <a:p>
            <a:r>
              <a:t>医療費と同時に収入が落ちると、家計の耐久性が試されます。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教育は家庭の価値観で金額が大きく変わります。</a:t>
            </a:r>
          </a:p>
          <a:p>
            <a:r>
              <a:t>例: 小学校の学習費総額（年間平均） 公立約36.7万円 / 私立約174.2万円（文科省）</a:t>
            </a:r>
          </a:p>
          <a:p>
            <a:r>
              <a:t>ただ今日は『いつ山が来るか』と『何と重なるか』を掴んでください。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これが“詰まり年”のテンプレです。</a:t>
            </a:r>
          </a:p>
          <a:p>
            <a:r>
              <a:t>住宅・教育・老後の積立に、突発が重なる年が必ず出ます。</a:t>
            </a:r>
          </a:p>
          <a:p>
            <a:r>
              <a:t>面談ではあなたの家族構成・住宅条件で、赤帯を特定します。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老後不安の本質は、生活水準が下げにくいことです。</a:t>
            </a:r>
          </a:p>
          <a:p>
            <a:r>
              <a:t>年金だけで今の生活を維持できるか。</a:t>
            </a:r>
          </a:p>
          <a:p>
            <a:r>
              <a:t>足りないなら、いつから何年分をどう埋めるか。これが逆算です。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このテンプレを“あなたの数字”で作ります。</a:t>
            </a:r>
          </a:p>
          <a:p>
            <a:r>
              <a:t>生活費Xは、現役の生活水準（統計の消費支出）を起点に近似できます。</a:t>
            </a:r>
          </a:p>
          <a:p>
            <a:r>
              <a:t>年金Yは人によって千差万別なので、ねんきん定期便で確定させます。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ここで“答え”を出さない理由がこれです。</a:t>
            </a:r>
          </a:p>
          <a:p>
            <a:r>
              <a:t>年金は人によって全く違い、ここを外すと住宅も運用も全部ズレます。</a:t>
            </a:r>
          </a:p>
          <a:p>
            <a:r>
              <a:t>だから最初の一手はライフプラン。ここから代表ケースに入ります。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ここから代表ケースAです。</a:t>
            </a:r>
          </a:p>
          <a:p>
            <a:r>
              <a:t>論点は住宅・教育・老後が重なること。</a:t>
            </a:r>
          </a:p>
          <a:p>
            <a:r>
              <a:t>住宅は買う/買わないではなく、耐久性で判断します。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この3問で耐久性の弱点が見えます。</a:t>
            </a:r>
          </a:p>
          <a:p>
            <a:r>
              <a:t>面談ではあなたの条件で、折れる点を特定します。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金利は当てられません。だから耐える設計が必要です。</a:t>
            </a:r>
          </a:p>
          <a:p>
            <a:r>
              <a:t>同じ借入でも金利が上がると返済はこれだけ変わります。</a:t>
            </a:r>
          </a:p>
          <a:p>
            <a:r>
              <a:t>この差が余白を削り、教育や老後とぶつかります。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突発で一番痛いのは、出費と収入減が同時に起きることです。</a:t>
            </a:r>
          </a:p>
          <a:p>
            <a:r>
              <a:t>固定費が高いほど回復力が下がります。</a:t>
            </a:r>
          </a:p>
          <a:p>
            <a:r>
              <a:t>ここも面談であなたの条件に落として、弱点を潰します。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次に代表ケースBです。</a:t>
            </a:r>
          </a:p>
          <a:p>
            <a:r>
              <a:t>単身は家計のクッションが薄く、老後不安が直撃しやすい。</a:t>
            </a:r>
          </a:p>
          <a:p>
            <a:r>
              <a:t>だからこそ、資産運用の前に順序が必要です。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単身の方から一番多いのが『資産運用の正解が知りたい』です。</a:t>
            </a:r>
          </a:p>
          <a:p>
            <a:r>
              <a:t>ただ、いきなり正解を探すのが一番危ない。</a:t>
            </a:r>
          </a:p>
          <a:p>
            <a:r>
              <a:t>守る→増やす→最適化。この順序を面談であなたの数字に落とします。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単身は同時発生に弱いので、この3問が効きます。</a:t>
            </a:r>
          </a:p>
          <a:p>
            <a:r>
              <a:t>面談で数字に落として、どこが弱いか特定します。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介護と相続は本当は深いですが、今日は入口だけ。</a:t>
            </a:r>
          </a:p>
          <a:p>
            <a:r>
              <a:t>お金だけでなく、手続きや感情、時間が絡むので“前倒し”が効きます。</a:t>
            </a:r>
          </a:p>
          <a:p>
            <a:r>
              <a:t>必要なら面談で状況を整理し、専門家連携も含めて段取りを作ります。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結論はシンプルで、早めの可視化が最強です。</a:t>
            </a:r>
          </a:p>
          <a:p>
            <a:r>
              <a:t>無料面談では、今日のテンプレをあなたの数字で完成させます。</a:t>
            </a:r>
          </a:p>
          <a:p>
            <a:r>
              <a:t>ここで初めて、あなたの最適解候補が提示できます。</a:t>
            </a:r>
          </a:p>
          <a:p>
            <a:r>
              <a:t>ねんきん定期便だけは、面談の精度が一気に上がるのでぜひ持ってきてください。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予約はこの後すぐ取れます。</a:t>
            </a:r>
          </a:p>
          <a:p>
            <a:r>
              <a:t>QRか受付用紙、または終了後ブースで。</a:t>
            </a:r>
          </a:p>
          <a:p>
            <a:r>
              <a:t>個別判断は面談で確認します。</a:t>
            </a:r>
          </a:p>
          <a:p>
            <a:r>
              <a:t>本日はありがとうございました。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年収1,000万世帯の「家計耐久性」設計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税・社保・教育・老後の“四大ストレス”を、構造で理解する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個別の最適解は面談で（今日は“構造とテンプレ”まで）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Version: 2026-02-07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今日のゴール（言うこと / 言わないこと）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言う: 構造と変数（何が負担を増減させるか）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言う: 2つのペルソナで“悩みが変わる”を可視化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言わない: 商品推奨・資産配分の断定・税務法務の個別判断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アジェンダ（60分）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1. 今起きている変化（タイムリー枠）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2. データで現実を見る（A/B家計）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3. 四大ストレスを“変数”で整理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4. Persona A: 住宅×教育×老後（重なり）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5. Persona B: 単身×老後×資産運用（順序）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6. 介護・相続（1枚）→ 無料面談の予約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4/29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今起きている変化（前提が揺れる）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金利: “金利のある世界”に戻り、住宅や運用の前提が変わる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税制: 毎年の大綱で控除・非課税枠・制度が見直される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資産形成: NISAなど“非課税枠”の重要性が増す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結論: 予想より『設計（耐久性）』が強い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日本銀行『金融政策の枠組みの見直し』（2024-03-19） / 出典: 財務省『令和8年度税制改正の大綱』（税制は毎年動く） / 出典: 金融庁 NISA特設サイト『NISAを知る』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5/29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富裕層の四大ストレス（俯瞰）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164592" cy="17830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6479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税金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所得税・住民税</a:t>
            </a:r>
            <a:br/>
            <a:r>
              <a:t>(手取りを削る)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164592" cy="178308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6479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社会保険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健康保険・年金</a:t>
            </a:r>
            <a:br/>
            <a:r>
              <a:t>(見落とされがち)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164592" cy="178308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6791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教育資金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いつ・何人・公立私立</a:t>
            </a:r>
            <a:br/>
            <a:r>
              <a:t>(重なる)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7033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703320"/>
            <a:ext cx="164592" cy="178308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86791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老後資金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生活水準×長寿</a:t>
            </a:r>
            <a:br/>
            <a:r>
              <a:t>(逆算が必要)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6/29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なぜ手取りが増えないのか（構造式）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789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1B1B1B"/>
                </a:solidFill>
                <a:latin typeface="Yu Gothic"/>
              </a:defRPr>
            </a:pPr>
            <a:r>
              <a:t>手取り（可処分所得） = 収入 － 税 － 社会保険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収入が増えても、税と社会保険が同時に増えると“体感の増え方”は鈍くなる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だから高年収でも『余白が有限』になりやすい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今日は“構造と変数”を理解して、個別の答えは面談で数字に落とす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7/29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年収1000万は“どの位置”か（五分位）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勤労者世帯の年間収入 五分位（上限値）の目安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3049066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304906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6346" y="2194560"/>
            <a:ext cx="1381201" cy="502920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6346" y="2194560"/>
            <a:ext cx="1381201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7548" y="2194560"/>
            <a:ext cx="1554937" cy="502920"/>
          </a:xfrm>
          <a:prstGeom prst="rect">
            <a:avLst/>
          </a:prstGeom>
          <a:solidFill>
            <a:srgbClr val="C2D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7548" y="2194560"/>
            <a:ext cx="155493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2485" y="2194560"/>
            <a:ext cx="2110892" cy="502920"/>
          </a:xfrm>
          <a:prstGeom prst="rect">
            <a:avLst/>
          </a:prstGeom>
          <a:solidFill>
            <a:srgbClr val="A9C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2485" y="2194560"/>
            <a:ext cx="211089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3377" y="2194560"/>
            <a:ext cx="2328062" cy="502920"/>
          </a:xfrm>
          <a:prstGeom prst="rect">
            <a:avLst/>
          </a:prstGeom>
          <a:solidFill>
            <a:srgbClr val="86B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3377" y="2194560"/>
            <a:ext cx="232806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6346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6306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351万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7548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7508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510万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2485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2445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689万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3377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73337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932万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646920" y="1691640"/>
            <a:ext cx="274320" cy="411480"/>
          </a:xfrm>
          <a:prstGeom prst="downArrow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42318"/>
                </a:solidFill>
                <a:latin typeface="Yu Gothic"/>
              </a:defRPr>
            </a:pPr>
            <a:r>
              <a:t>年収1000万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3063240"/>
            <a:ext cx="10424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年収1000万円は“五分位5（上位20%）”に入る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ただし五分位5は『1000万以上』ではなく、932万超の上位20%なので幅が広い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本セミナーは『高年収層の家計構造の近似』として五分位5データを使う（個別の答えは面談で）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8/29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 家計ウォーターフォール（統計）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A6A6A"/>
                </a:solidFill>
                <a:latin typeface="Yu Gothic"/>
              </a:defRPr>
            </a:pPr>
            <a:r>
              <a:t>実収入 848,154円 → 税 74,209円 → 社保 93,919円 → 可処分 680,001円 → 消費 415,616円 → 余白 264,385円（/月）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実収入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8778240" cy="25603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482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848,154円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直接税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36270" y="2788920"/>
            <a:ext cx="768049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7340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773,945円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社会保険料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4225" y="3474720"/>
            <a:ext cx="972044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4198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680,026円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消費支出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2675" y="4160520"/>
            <a:ext cx="4301550" cy="256032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264,410円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731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余白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846320"/>
            <a:ext cx="2736336" cy="25603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7914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264,385円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9/29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 家計ウォーターフォール（統計）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A6A6A"/>
                </a:solidFill>
                <a:latin typeface="Yu Gothic"/>
              </a:defRPr>
            </a:pPr>
            <a:r>
              <a:t>実収入 695,152円 → 税 97,738円 → 社保 76,837円 → 可処分 520,577円 → 消費 358,709円 → 余白 161,868円（/月）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実収入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8778240" cy="25603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482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695,152円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直接税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0104" y="2788920"/>
            <a:ext cx="1234215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7340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597,414円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社会保険料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99821" y="3474720"/>
            <a:ext cx="970282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4198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520,577円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消費支出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0116" y="4160520"/>
            <a:ext cx="4529705" cy="256032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161,868円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731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余白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846320"/>
            <a:ext cx="2044036" cy="25603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7914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161,868円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10/29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結論① 高年収でも“余白は有限”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Persona A 余白: 約26.4万円/月（統計）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Persona B 余白: 約16.2万円/月（統計）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余白に『住宅・教育・老後・突発』が全部乗る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11/29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FPの6ステップ（業界標準）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業界標準: FP実務の6ステップ（今日はSTEP1〜2まで / 面談でSTEP3〜6へ）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57400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057400"/>
            <a:ext cx="164592" cy="50292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6464" y="2057400"/>
            <a:ext cx="10030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STEP1  関係確立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70048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670048"/>
            <a:ext cx="164592" cy="50292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4" y="2670048"/>
            <a:ext cx="10030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STEP2  データ収集・目標明確化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82696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282696"/>
            <a:ext cx="164592" cy="50292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" y="3282696"/>
            <a:ext cx="10030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STEP3  分析・評価（戦略検討）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895344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895344"/>
            <a:ext cx="164592" cy="50292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6464" y="3895344"/>
            <a:ext cx="10030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STEP4  プラン作成・提示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507992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507992"/>
            <a:ext cx="164592" cy="50292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6464" y="4507992"/>
            <a:ext cx="10030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STEP5  実行援助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120640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5120640"/>
            <a:ext cx="164592" cy="50292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6464" y="5120640"/>
            <a:ext cx="10030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STEP6  定期見直し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806440"/>
            <a:ext cx="10424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この順序で“あなたの数字”に落とすのがライフプラン（無料面談）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日本FP協会『4つのEと6ステップ』（FP実務プロセス）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12/29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今日扱う“変数”一覧（地図）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税: 税率・控除・家族構成・所得の形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社保: 標準報酬月額・年齢・扶養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教育: いつ・何人・公立私立・塾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住宅: 借入額・金利・期間・固定/変動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老後: 生活水準・年金・退職金・寿命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13/29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税制は動く（改正大綱の例）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控除・非課税枠・住宅税制などが毎年見直される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例: 基礎控除等の対応、通勤手当の非課税限度額、住宅ローン控除、NISAの見直し 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結論: 制度を“当てる”より、動いても耐える設計が強い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財務省『令和8年度税制改正の大綱』（税制は毎年動く）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14/29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高額療養費（“ゼロ”にはならない）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自己負担の上限はあるが、出費がゼロになる制度ではない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見落としやすい: 収入減（休職）と同時に起き得る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備えは『制度理解 + 余白 + 固定費設計』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厚生労働省『高額療養費制度を利用される皆さまへ』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15/29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教育費は“金額”より“タイミング”が勝負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教育費は“金額”より“タイミング”が勝負（重なると家計が折れる）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468880"/>
            <a:ext cx="10424160" cy="4572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40232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7352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3185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305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4661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1781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6138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3258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1440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4661" y="1783080"/>
            <a:ext cx="1421476" cy="59436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4661" y="1810512"/>
            <a:ext cx="142147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高校〜大学</a:t>
            </a:r>
            <a:br/>
            <a:r>
              <a:t>(山が来やすい)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35534" y="1783080"/>
            <a:ext cx="2369127" cy="594360"/>
          </a:xfrm>
          <a:prstGeom prst="round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5534" y="1810512"/>
            <a:ext cx="2369127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塾・習い事</a:t>
            </a:r>
            <a:br/>
            <a:r>
              <a:t>(増えやすい)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657600"/>
            <a:ext cx="10424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B1B1B"/>
                </a:solidFill>
                <a:latin typeface="Yu Gothic"/>
              </a:defRPr>
            </a:pPr>
            <a:r>
              <a:t>家計が苦しくなるのは『教育費が高い』より『住宅・教育・老後が重なる』ことが多い</a:t>
            </a:r>
          </a:p>
          <a:p>
            <a:pPr>
              <a:defRPr sz="2000">
                <a:solidFill>
                  <a:srgbClr val="1B1B1B"/>
                </a:solidFill>
                <a:latin typeface="Yu Gothic"/>
              </a:defRPr>
            </a:pPr>
            <a:r>
              <a:t>だから“いつ重なるか”を見える化して、余白の使い方を決める</a:t>
            </a:r>
          </a:p>
          <a:p>
            <a:pPr>
              <a:defRPr sz="2000">
                <a:solidFill>
                  <a:srgbClr val="1B1B1B"/>
                </a:solidFill>
                <a:latin typeface="Yu Gothic"/>
              </a:defRPr>
            </a:pPr>
            <a:r>
              <a:t>この“重なり”の可視化が、ライフプランの価値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文部科学省『令和5年度 子供の学習費調査（調査結果の概要）』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16/29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詰まり年（重なり）のテンプレ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1B1B"/>
                </a:solidFill>
                <a:latin typeface="Yu Gothic"/>
              </a:defRPr>
            </a:pPr>
            <a:r>
              <a:t>独自パート: あなたの家計の「詰まり年」を見つける（テンプレ）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31720"/>
            <a:ext cx="10424160" cy="2267712"/>
          </a:xfrm>
          <a:prstGeom prst="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56960" y="2331720"/>
            <a:ext cx="1788160" cy="226771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592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6288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696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408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104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816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4512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6224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920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632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3328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040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2736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448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70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521440" y="2331720"/>
            <a:ext cx="1200" cy="226771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A6A6A"/>
                </a:solidFill>
                <a:latin typeface="Yu Gothic"/>
              </a:defRPr>
            </a:pPr>
            <a: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331720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住宅（ローン）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8800" y="2473452"/>
            <a:ext cx="6258560" cy="283464"/>
          </a:xfrm>
          <a:prstGeom prst="round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28986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教育（山）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62880" y="3040380"/>
            <a:ext cx="2682240" cy="283464"/>
          </a:xfrm>
          <a:prstGeom prst="round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465576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老後（積立）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8800" y="3607308"/>
            <a:ext cx="4470400" cy="283464"/>
          </a:xfrm>
          <a:prstGeom prst="round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032504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突発（医療/休職）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4174236"/>
            <a:ext cx="8046720" cy="28346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4832096" y="4117543"/>
            <a:ext cx="146304" cy="146304"/>
          </a:xfrm>
          <a:prstGeom prst="triangl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6441440" y="4117543"/>
            <a:ext cx="146304" cy="146304"/>
          </a:xfrm>
          <a:prstGeom prst="triangl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8408416" y="4117543"/>
            <a:ext cx="146304" cy="146304"/>
          </a:xfrm>
          <a:prstGeom prst="triangl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25184" y="2011680"/>
            <a:ext cx="2011680" cy="292608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詰まり年ゾーン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5806440"/>
            <a:ext cx="10424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ポイント: この“赤帯（詰まり年）”を先に見つけると、住宅・教育・老後の順序が決まる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17/29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老後資金: 生活水準は下げにくい（ラチェット効果）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生活レベルは一度上げると下げにくい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年金だけで今の生活水準を保てるか？が本質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不足分は『いつから・何年』埋めるかの問題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18/29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老後の逆算グラフ（テンプレ）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老後の逆算（テンプレ）: 生活費X － 年金Y = ギャップ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生活費 X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542032"/>
            <a:ext cx="8046720" cy="5029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48288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416,000円/月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年金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410712"/>
            <a:ext cx="4828032" cy="50292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337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249,600円/月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ギャップ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279392"/>
            <a:ext cx="3218688" cy="5029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166,400円/月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16636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ポイント: Y（年金）は人によって千差万別。ねんきん定期便で“確定”させる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このテンプレを“自分の数字”に落とすのが、今日のゴールの次の一手（無料面談）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※棒グラフのYは説明用の例（Xの60%）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注記: XはPersona A消費支出を近似（統計）。Yは説明用の例（Xの60%）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19/29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ここで止める理由: Y（年金）が人によって違う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年金は『制度』と『あなたの加入・収入履歴』で決まる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当てずっぽうで住宅・運用を決めると、全部ズレる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だから最初の一手は“ライフプラン（見える化）”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20/29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A（35歳夫婦・子2・専業主婦）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論点: 住宅×教育×老後が“重なる”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買う/買わないではなく『家計が耐えるか（耐久性）』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21/29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 耐久性チェック（自己診断3問）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金利が上がっても返済が回るか？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教育費の山が来る時期に余白が残るか？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休職などで手取りが落ちても固定費が耐えるか？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22/29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ストレステスト① 金利上昇（参考例）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参考例: 住宅ローン 金利上昇のインパクト（5,000万円 / 35年 / 元利均等）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3337" y="3270319"/>
            <a:ext cx="1693926" cy="1850321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333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0.5%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337" y="2995999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129,793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9377" y="3108514"/>
            <a:ext cx="1693926" cy="2012126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937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1.0%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9377" y="2834194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141,143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5417" y="2759414"/>
            <a:ext cx="1693926" cy="2361226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541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5417" y="2485094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165,631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1457" y="2377440"/>
            <a:ext cx="1693926" cy="27432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145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3.0%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1457" y="210312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192,425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8640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B42318"/>
                </a:solidFill>
                <a:latin typeface="Yu Gothic"/>
              </a:defRPr>
            </a:pPr>
            <a:r>
              <a:t>0.5% → 2.0% で、月の返済が 約35,838円 増える（参考例）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重要なのは『当てる』より『耐える設計（ストレステスト）』を持つこと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参考例（概算）: 5,000万円 / 35年 / 元利均等（ボーナス返済なし）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23/29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ストレステスト② 病気/休職/収入減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出費だけでなく『手取りが落ちる』可能性がセットで起きる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固定費（住宅・教育）が高いほど“回復力”が下がる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備えは『制度理解 + 余白 + 保険設計』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24/29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B（40歳単身・離婚後単身含む）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論点: 老後不安 → 資産運用に焦る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単身はクッションが薄いので『順序』が重要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25/29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資産形成の順序（守る→増やす→最適化）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資産運用の前に“順序”がある（単身は特に）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77440"/>
            <a:ext cx="6949440" cy="914400"/>
          </a:xfrm>
          <a:prstGeom prst="roundRect">
            <a:avLst/>
          </a:prstGeom>
          <a:solidFill>
            <a:srgbClr val="86B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③ 最適化（税優遇・制度活用）</a:t>
            </a:r>
            <a:br/>
            <a:r>
              <a:t>※正解は人により違う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291840"/>
            <a:ext cx="5669280" cy="914400"/>
          </a:xfrm>
          <a:prstGeom prst="roundRect">
            <a:avLst/>
          </a:prstGeom>
          <a:solidFill>
            <a:srgbClr val="A9C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② 増やす（長期・分散・ルール運用）</a:t>
            </a:r>
            <a:br/>
            <a:r>
              <a:t>※投資比率は面談で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206240"/>
            <a:ext cx="4389120" cy="914400"/>
          </a:xfrm>
          <a:prstGeom prst="roundRect">
            <a:avLst/>
          </a:prstGeom>
          <a:solidFill>
            <a:srgbClr val="C2D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① 守る（生活防衛資金・保険・緊急予備）</a:t>
            </a:r>
            <a:br/>
            <a:r>
              <a:t>※ここが無いと投資が続かない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9496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1B"/>
                </a:solidFill>
                <a:latin typeface="Yu Gothic"/>
              </a:defRPr>
            </a:pPr>
            <a:r>
              <a:t>この順序を“あなたの数字”で作るのがライフプラン（面談で実施）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26/29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 耐久性チェック（自己診断3問）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市場が下がっても“取り崩さず”続けられるか？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生活イベントが来ても固定費が耐えるか？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老後ギャップを“年数”で把握しているか？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27/29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介護・相続（1枚だけ）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起こり得ること: 介護費用、実家の不動産、きょうだい間の調整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相続は“お金”だけでなく“手続き/感情/時間”が絡む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入口: 親の資産の棚卸し、意思確認、連絡体制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28/29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無料個別面談で得られること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結論: 早めの可視化（ライフプラン）が最強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あなたの数字で『老後逆算グラフ』を作る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住宅・教育・老後の“重なり（詰まり年）”を見える化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税・社保を含めた家計の耐久性チェック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持ち物: ねんきん定期便、家計概算、住宅ローン情報（あれば）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H（ハイブリッド）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29/29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予約方法（オフライン）+ 免責・注意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この後その場で予約（QR / 受付用紙 / 終了後ブース）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所要: 30秒（希望枠だけ選択）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本資料は一般情報。税務/法務の個別判断は面談で確認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制度は改正されます。最新情報で随時アップデートします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