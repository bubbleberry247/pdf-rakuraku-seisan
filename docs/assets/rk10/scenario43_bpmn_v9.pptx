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9" d="100"/>
          <a:sy n="19" d="100"/>
        </p:scale>
        <p:origin x="1332" y="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333E02A-ACB0-86D9-AB9A-FE5148AE122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8D0DB23F-C801-9CEC-4176-CEFC0FFE2C0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09A6F1A8-5FD8-D6FC-9BFE-E79C27776F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DF757E-6BE2-4F0A-8CC6-FA254324E72C}" type="datetimeFigureOut">
              <a:rPr kumimoji="1" lang="ja-JP" altLang="en-US" smtClean="0"/>
              <a:t>2026/2/1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F603A08F-7C4B-D6AB-5016-EBE1545A53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4D97498-A40D-7515-9A49-1796775838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FD4476-B041-4A51-870A-B2FDEB33852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3857967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DAFCD59-9501-FF35-2A18-42A803075E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AC02459E-386C-B6A7-11FB-EC4BDEA06E2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83DAA0C6-DFDA-EB5D-C1FF-2AB77EEC8F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DF757E-6BE2-4F0A-8CC6-FA254324E72C}" type="datetimeFigureOut">
              <a:rPr kumimoji="1" lang="ja-JP" altLang="en-US" smtClean="0"/>
              <a:t>2026/2/1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5006DF7A-8ECB-3629-4238-1BDB1CC5ED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51974FBC-0DF5-812A-7688-B0E85F4D8D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FD4476-B041-4A51-870A-B2FDEB33852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743749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BCC3B81-5541-02DD-57BA-8E049E1619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6002DE84-5CB0-3161-44F0-A13A56F7A8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8E8D34E5-CD4C-041F-20E3-9C9E91BDA1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DF757E-6BE2-4F0A-8CC6-FA254324E72C}" type="datetimeFigureOut">
              <a:rPr kumimoji="1" lang="ja-JP" altLang="en-US" smtClean="0"/>
              <a:t>2026/2/1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140CB8DD-8D25-4826-7854-B24A2E92FE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CEA0A04-CA27-5453-B09F-028EB48974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FD4476-B041-4A51-870A-B2FDEB33852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8254717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6F14D80-581A-BBE8-9408-43EEB70A4F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D463D8A1-0513-EE92-1D0A-1EC907EC892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851758FB-F9B6-C33A-2459-97EE20751D3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A49B9669-104A-5E5C-7C38-3846895CA3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DF757E-6BE2-4F0A-8CC6-FA254324E72C}" type="datetimeFigureOut">
              <a:rPr kumimoji="1" lang="ja-JP" altLang="en-US" smtClean="0"/>
              <a:t>2026/2/1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495CDDFE-A403-1F22-0505-34F972E665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FBCE320B-027B-78E3-A684-D601E2EBE7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FD4476-B041-4A51-870A-B2FDEB33852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109998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670CB6C-3BC5-2332-2780-6D6D934A1A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A70D5309-7555-6F13-FA7E-4AEC7ED7E40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6EAEFAE9-E96B-767B-A7BD-E3E9EB35344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529ABF8A-1B02-AB07-37B5-AC0E3D3F944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78638D17-507C-6C68-3F03-684C2408B85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7908557E-A91B-FA26-D430-3861339E22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DF757E-6BE2-4F0A-8CC6-FA254324E72C}" type="datetimeFigureOut">
              <a:rPr kumimoji="1" lang="ja-JP" altLang="en-US" smtClean="0"/>
              <a:t>2026/2/1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9CDC0F3C-1B36-34B6-BF42-90F1A6BF59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264D568C-1B18-EC91-28B3-1A529BB439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FD4476-B041-4A51-870A-B2FDEB33852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337098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CDA7FA0-6D6B-1311-8AF9-AB7EB0CB03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2E34F963-EF52-267B-C206-5A618152FD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DF757E-6BE2-4F0A-8CC6-FA254324E72C}" type="datetimeFigureOut">
              <a:rPr kumimoji="1" lang="ja-JP" altLang="en-US" smtClean="0"/>
              <a:t>2026/2/1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4221EAB2-719E-D1ED-57C2-4F467F9DE3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1D8F8944-C229-1391-924B-9CB8D654AC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FD4476-B041-4A51-870A-B2FDEB33852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9331639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093C945D-5D36-A978-831C-68E510CA5C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DF757E-6BE2-4F0A-8CC6-FA254324E72C}" type="datetimeFigureOut">
              <a:rPr kumimoji="1" lang="ja-JP" altLang="en-US" smtClean="0"/>
              <a:t>2026/2/1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70F109C1-8703-2A83-8063-314FA61E80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5A136EE7-546C-4E09-EC5E-3F80491DF2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FD4476-B041-4A51-870A-B2FDEB33852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1920825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A587B31-F494-B734-5209-D19EA59A63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2FDC2C60-C9A2-0632-171E-8E081295E6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BE28BAE9-D063-2A98-4C7D-D20C1993FC9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A85F461D-4267-EB01-25D2-D730EAD721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DF757E-6BE2-4F0A-8CC6-FA254324E72C}" type="datetimeFigureOut">
              <a:rPr kumimoji="1" lang="ja-JP" altLang="en-US" smtClean="0"/>
              <a:t>2026/2/1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3E094F6F-DA9B-1174-731E-45F3780A4E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854F976F-4994-9F6C-5FB3-DE8FBFF493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FD4476-B041-4A51-870A-B2FDEB33852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3803016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2252E5D-F299-547C-3702-990619F1D3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68B48408-A236-9249-9895-9DB7B931572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3BC9949D-D9BF-514A-31C4-587F9F129B9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71758B15-9920-5FF8-554A-DCB2DDA7E2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DF757E-6BE2-4F0A-8CC6-FA254324E72C}" type="datetimeFigureOut">
              <a:rPr kumimoji="1" lang="ja-JP" altLang="en-US" smtClean="0"/>
              <a:t>2026/2/1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BE8A0016-2612-CF08-9064-0BF54990A7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18B68CDD-D4D5-96AB-43BE-960BA85979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FD4476-B041-4A51-870A-B2FDEB33852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05102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E1B1572-AD15-0943-6C09-43F62314D2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88CDDB97-38CE-B176-56AB-162DFAFA3AC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B9CFDEE1-7285-599C-1FB6-E72814C88B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DF757E-6BE2-4F0A-8CC6-FA254324E72C}" type="datetimeFigureOut">
              <a:rPr kumimoji="1" lang="ja-JP" altLang="en-US" smtClean="0"/>
              <a:t>2026/2/1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F69CA8D6-BFD8-C69A-7D8F-41F83EEB36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ABACCBE-DA4A-49D0-BE3D-152013938E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FD4476-B041-4A51-870A-B2FDEB33852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4839723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B4D2F28E-C53E-3BAC-D407-0B01EF7B226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9FC57B5E-920F-25C8-6DCD-F3846C92FB4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E396887A-9443-D3C5-DD99-411D55869C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DF757E-6BE2-4F0A-8CC6-FA254324E72C}" type="datetimeFigureOut">
              <a:rPr kumimoji="1" lang="ja-JP" altLang="en-US" smtClean="0"/>
              <a:t>2026/2/1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B2BB8E37-4774-37FF-EEAB-FA36FF0274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5B20855-8330-F8E6-F3A4-FB0498DC45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FD4476-B041-4A51-870A-B2FDEB33852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799438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39F0CFBD-8731-D725-6183-116885AE54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4AB4B9EB-6E91-8956-09FC-38746A1EF31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864FA903-B1C9-7D7C-C7B2-4A9B0CE3C7D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DF757E-6BE2-4F0A-8CC6-FA254324E72C}" type="datetimeFigureOut">
              <a:rPr kumimoji="1" lang="ja-JP" altLang="en-US" smtClean="0"/>
              <a:t>2026/2/1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D64907EE-127B-8257-4912-1DE50279772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BABB5686-2050-8AC7-1E09-CB2CE6A6788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4FD4476-B041-4A51-870A-B2FDEB33852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798913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833F4218-DB02-EF51-8A97-DEB545E58980}"/>
              </a:ext>
            </a:extLst>
          </p:cNvPr>
          <p:cNvSpPr txBox="1"/>
          <p:nvPr/>
        </p:nvSpPr>
        <p:spPr>
          <a:xfrm>
            <a:off x="381000" y="127000"/>
            <a:ext cx="11430000" cy="4616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2400" b="1">
                <a:latin typeface="Yu Gothic" panose="020B0400000000000000" pitchFamily="50" charset="-128"/>
              </a:rPr>
              <a:t>シナリオ</a:t>
            </a:r>
            <a:r>
              <a:rPr kumimoji="1" lang="en-US" altLang="ja-JP" sz="2400" b="1">
                <a:latin typeface="Yu Gothic" panose="020B0400000000000000" pitchFamily="50" charset="-128"/>
              </a:rPr>
              <a:t>43 BPMN</a:t>
            </a:r>
            <a:r>
              <a:rPr kumimoji="1" lang="ja-JP" altLang="en-US" sz="2400" b="1">
                <a:latin typeface="Yu Gothic" panose="020B0400000000000000" pitchFamily="50" charset="-128"/>
              </a:rPr>
              <a:t>（</a:t>
            </a:r>
            <a:r>
              <a:rPr kumimoji="1" lang="en-US" altLang="ja-JP" sz="2400" b="1">
                <a:latin typeface="Yu Gothic" panose="020B0400000000000000" pitchFamily="50" charset="-128"/>
              </a:rPr>
              <a:t>ETC</a:t>
            </a:r>
            <a:r>
              <a:rPr kumimoji="1" lang="ja-JP" altLang="en-US" sz="2400" b="1">
                <a:latin typeface="Yu Gothic" panose="020B0400000000000000" pitchFamily="50" charset="-128"/>
              </a:rPr>
              <a:t>明細作成）</a:t>
            </a:r>
          </a:p>
        </p:txBody>
      </p: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613C3F0A-B748-B5EE-97A9-95E577C07863}"/>
              </a:ext>
            </a:extLst>
          </p:cNvPr>
          <p:cNvSpPr/>
          <p:nvPr/>
        </p:nvSpPr>
        <p:spPr>
          <a:xfrm>
            <a:off x="254000" y="889000"/>
            <a:ext cx="11684000" cy="1397000"/>
          </a:xfrm>
          <a:prstGeom prst="rect">
            <a:avLst/>
          </a:prstGeom>
          <a:solidFill>
            <a:srgbClr val="F5F5F5"/>
          </a:solidFill>
          <a:ln>
            <a:solidFill>
              <a:srgbClr val="C8C8C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8195BC61-040E-DA79-6DF0-6215AA7B4AB7}"/>
              </a:ext>
            </a:extLst>
          </p:cNvPr>
          <p:cNvSpPr txBox="1"/>
          <p:nvPr/>
        </p:nvSpPr>
        <p:spPr>
          <a:xfrm>
            <a:off x="381000" y="990600"/>
            <a:ext cx="2540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200" b="1">
                <a:latin typeface="Yu Gothic" panose="020B0400000000000000" pitchFamily="50" charset="-128"/>
              </a:rPr>
              <a:t>RPA(RK10)</a:t>
            </a:r>
            <a:endParaRPr kumimoji="1" lang="ja-JP" altLang="en-US" sz="1200" b="1">
              <a:latin typeface="Yu Gothic" panose="020B0400000000000000" pitchFamily="50" charset="-128"/>
            </a:endParaRPr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0D8B47A4-02B9-01F3-7AE9-1E09B6E78AEB}"/>
              </a:ext>
            </a:extLst>
          </p:cNvPr>
          <p:cNvSpPr/>
          <p:nvPr/>
        </p:nvSpPr>
        <p:spPr>
          <a:xfrm>
            <a:off x="254000" y="2286000"/>
            <a:ext cx="11684000" cy="1397000"/>
          </a:xfrm>
          <a:prstGeom prst="rect">
            <a:avLst/>
          </a:prstGeom>
          <a:solidFill>
            <a:srgbClr val="F5F5F5"/>
          </a:solidFill>
          <a:ln>
            <a:solidFill>
              <a:srgbClr val="C8C8C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D5FB2F93-B601-CE02-3EC7-396C238AC08F}"/>
              </a:ext>
            </a:extLst>
          </p:cNvPr>
          <p:cNvSpPr txBox="1"/>
          <p:nvPr/>
        </p:nvSpPr>
        <p:spPr>
          <a:xfrm>
            <a:off x="381000" y="2387600"/>
            <a:ext cx="2540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200" b="1">
                <a:latin typeface="Yu Gothic" panose="020B0400000000000000" pitchFamily="50" charset="-128"/>
              </a:rPr>
              <a:t>ETC</a:t>
            </a:r>
            <a:r>
              <a:rPr kumimoji="1" lang="ja-JP" altLang="en-US" sz="1200" b="1">
                <a:latin typeface="Yu Gothic" panose="020B0400000000000000" pitchFamily="50" charset="-128"/>
              </a:rPr>
              <a:t>サイト</a:t>
            </a:r>
          </a:p>
        </p:txBody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BBA79DB9-FC03-FBDA-C0C0-1C2BE79A3CFD}"/>
              </a:ext>
            </a:extLst>
          </p:cNvPr>
          <p:cNvSpPr/>
          <p:nvPr/>
        </p:nvSpPr>
        <p:spPr>
          <a:xfrm>
            <a:off x="254000" y="3683000"/>
            <a:ext cx="11684000" cy="1397000"/>
          </a:xfrm>
          <a:prstGeom prst="rect">
            <a:avLst/>
          </a:prstGeom>
          <a:solidFill>
            <a:srgbClr val="F5F5F5"/>
          </a:solidFill>
          <a:ln>
            <a:solidFill>
              <a:srgbClr val="C8C8C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2E4FBD7E-AAB4-73B6-30E7-76A4BE04813C}"/>
              </a:ext>
            </a:extLst>
          </p:cNvPr>
          <p:cNvSpPr txBox="1"/>
          <p:nvPr/>
        </p:nvSpPr>
        <p:spPr>
          <a:xfrm>
            <a:off x="381000" y="3784600"/>
            <a:ext cx="2540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1200" b="1">
                <a:latin typeface="Yu Gothic" panose="020B0400000000000000" pitchFamily="50" charset="-128"/>
              </a:rPr>
              <a:t>ローカル</a:t>
            </a:r>
            <a:r>
              <a:rPr kumimoji="1" lang="en-US" altLang="ja-JP" sz="1200" b="1">
                <a:latin typeface="Yu Gothic" panose="020B0400000000000000" pitchFamily="50" charset="-128"/>
              </a:rPr>
              <a:t>/</a:t>
            </a:r>
            <a:r>
              <a:rPr kumimoji="1" lang="ja-JP" altLang="en-US" sz="1200" b="1">
                <a:latin typeface="Yu Gothic" panose="020B0400000000000000" pitchFamily="50" charset="-128"/>
              </a:rPr>
              <a:t>ファイル</a:t>
            </a:r>
          </a:p>
        </p:txBody>
      </p:sp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9541CA02-3C43-51FC-FC41-96EA0FF2A9D3}"/>
              </a:ext>
            </a:extLst>
          </p:cNvPr>
          <p:cNvSpPr/>
          <p:nvPr/>
        </p:nvSpPr>
        <p:spPr>
          <a:xfrm>
            <a:off x="254000" y="5080000"/>
            <a:ext cx="11684000" cy="1397000"/>
          </a:xfrm>
          <a:prstGeom prst="rect">
            <a:avLst/>
          </a:prstGeom>
          <a:solidFill>
            <a:srgbClr val="F5F5F5"/>
          </a:solidFill>
          <a:ln>
            <a:solidFill>
              <a:srgbClr val="C8C8C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50721692-1303-1576-A4C7-3FC987C3440F}"/>
              </a:ext>
            </a:extLst>
          </p:cNvPr>
          <p:cNvSpPr txBox="1"/>
          <p:nvPr/>
        </p:nvSpPr>
        <p:spPr>
          <a:xfrm>
            <a:off x="381000" y="5181600"/>
            <a:ext cx="2540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1200" b="1">
                <a:latin typeface="Yu Gothic" panose="020B0400000000000000" pitchFamily="50" charset="-128"/>
              </a:rPr>
              <a:t>メール</a:t>
            </a:r>
            <a:r>
              <a:rPr kumimoji="1" lang="en-US" altLang="ja-JP" sz="1200" b="1">
                <a:latin typeface="Yu Gothic" panose="020B0400000000000000" pitchFamily="50" charset="-128"/>
              </a:rPr>
              <a:t>/</a:t>
            </a:r>
            <a:r>
              <a:rPr kumimoji="1" lang="ja-JP" altLang="en-US" sz="1200" b="1">
                <a:latin typeface="Yu Gothic" panose="020B0400000000000000" pitchFamily="50" charset="-128"/>
              </a:rPr>
              <a:t>通知</a:t>
            </a:r>
          </a:p>
        </p:txBody>
      </p:sp>
      <p:sp>
        <p:nvSpPr>
          <p:cNvPr id="11" name="楕円 10">
            <a:extLst>
              <a:ext uri="{FF2B5EF4-FFF2-40B4-BE49-F238E27FC236}">
                <a16:creationId xmlns:a16="http://schemas.microsoft.com/office/drawing/2014/main" id="{F1E779CC-4EE8-BAE1-7D4A-90AFFCB7B390}"/>
              </a:ext>
            </a:extLst>
          </p:cNvPr>
          <p:cNvSpPr/>
          <p:nvPr/>
        </p:nvSpPr>
        <p:spPr>
          <a:xfrm>
            <a:off x="635000" y="1333500"/>
            <a:ext cx="457200" cy="4572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3A5B7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>
                <a:latin typeface="Yu Gothic" panose="020B0400000000000000" pitchFamily="50" charset="-128"/>
              </a:rPr>
              <a:t>Start</a:t>
            </a:r>
            <a:endParaRPr kumimoji="1" lang="ja-JP" altLang="en-US" sz="1200">
              <a:latin typeface="Yu Gothic" panose="020B0400000000000000" pitchFamily="50" charset="-128"/>
            </a:endParaRPr>
          </a:p>
        </p:txBody>
      </p:sp>
      <p:sp>
        <p:nvSpPr>
          <p:cNvPr id="12" name="四角形: 角を丸くする 11">
            <a:extLst>
              <a:ext uri="{FF2B5EF4-FFF2-40B4-BE49-F238E27FC236}">
                <a16:creationId xmlns:a16="http://schemas.microsoft.com/office/drawing/2014/main" id="{E9F70D7E-0A6B-F6C9-FE8A-E663B2450DBC}"/>
              </a:ext>
            </a:extLst>
          </p:cNvPr>
          <p:cNvSpPr/>
          <p:nvPr/>
        </p:nvSpPr>
        <p:spPr>
          <a:xfrm>
            <a:off x="1778000" y="1206500"/>
            <a:ext cx="2794000" cy="6985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3A5B7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>
                <a:latin typeface="Yu Gothic" panose="020B0400000000000000" pitchFamily="50" charset="-128"/>
              </a:rPr>
              <a:t>env/config</a:t>
            </a:r>
            <a:r>
              <a:rPr kumimoji="1" lang="ja-JP" altLang="en-US" sz="1200">
                <a:latin typeface="Yu Gothic" panose="020B0400000000000000" pitchFamily="50" charset="-128"/>
              </a:rPr>
              <a:t>読込
</a:t>
            </a:r>
            <a:r>
              <a:rPr kumimoji="1" lang="en-US" altLang="ja-JP" sz="1200">
                <a:latin typeface="Yu Gothic" panose="020B0400000000000000" pitchFamily="50" charset="-128"/>
              </a:rPr>
              <a:t>(LOCAL/PROD)</a:t>
            </a:r>
            <a:endParaRPr kumimoji="1" lang="ja-JP" altLang="en-US" sz="1200">
              <a:latin typeface="Yu Gothic" panose="020B0400000000000000" pitchFamily="50" charset="-128"/>
            </a:endParaRPr>
          </a:p>
        </p:txBody>
      </p:sp>
      <p:sp>
        <p:nvSpPr>
          <p:cNvPr id="13" name="楕円 12">
            <a:extLst>
              <a:ext uri="{FF2B5EF4-FFF2-40B4-BE49-F238E27FC236}">
                <a16:creationId xmlns:a16="http://schemas.microsoft.com/office/drawing/2014/main" id="{D0F8C51D-FC40-2299-2D56-155DC56B5C63}"/>
              </a:ext>
            </a:extLst>
          </p:cNvPr>
          <p:cNvSpPr/>
          <p:nvPr/>
        </p:nvSpPr>
        <p:spPr>
          <a:xfrm>
            <a:off x="11176000" y="1333500"/>
            <a:ext cx="457200" cy="4572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3A5B7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>
                <a:latin typeface="Yu Gothic" panose="020B0400000000000000" pitchFamily="50" charset="-128"/>
              </a:rPr>
              <a:t>End</a:t>
            </a:r>
            <a:endParaRPr kumimoji="1" lang="ja-JP" altLang="en-US" sz="1200">
              <a:latin typeface="Yu Gothic" panose="020B0400000000000000" pitchFamily="50" charset="-128"/>
            </a:endParaRPr>
          </a:p>
        </p:txBody>
      </p:sp>
      <p:sp>
        <p:nvSpPr>
          <p:cNvPr id="14" name="四角形: 角を丸くする 13">
            <a:extLst>
              <a:ext uri="{FF2B5EF4-FFF2-40B4-BE49-F238E27FC236}">
                <a16:creationId xmlns:a16="http://schemas.microsoft.com/office/drawing/2014/main" id="{6058CAC1-8614-3BAD-842A-5315A94262AC}"/>
              </a:ext>
            </a:extLst>
          </p:cNvPr>
          <p:cNvSpPr/>
          <p:nvPr/>
        </p:nvSpPr>
        <p:spPr>
          <a:xfrm>
            <a:off x="4572000" y="2667000"/>
            <a:ext cx="2286000" cy="635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3A5B7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>
                <a:latin typeface="Yu Gothic" panose="020B0400000000000000" pitchFamily="50" charset="-128"/>
              </a:rPr>
              <a:t>ETC</a:t>
            </a:r>
            <a:r>
              <a:rPr kumimoji="1" lang="ja-JP" altLang="en-US" sz="1200">
                <a:latin typeface="Yu Gothic" panose="020B0400000000000000" pitchFamily="50" charset="-128"/>
              </a:rPr>
              <a:t>ログイン</a:t>
            </a:r>
          </a:p>
        </p:txBody>
      </p:sp>
      <p:sp>
        <p:nvSpPr>
          <p:cNvPr id="15" name="四角形: 角を丸くする 14">
            <a:extLst>
              <a:ext uri="{FF2B5EF4-FFF2-40B4-BE49-F238E27FC236}">
                <a16:creationId xmlns:a16="http://schemas.microsoft.com/office/drawing/2014/main" id="{2A262ADC-91EC-1AEB-AA40-6E7409DAD400}"/>
              </a:ext>
            </a:extLst>
          </p:cNvPr>
          <p:cNvSpPr/>
          <p:nvPr/>
        </p:nvSpPr>
        <p:spPr>
          <a:xfrm>
            <a:off x="7366000" y="2667000"/>
            <a:ext cx="2540000" cy="635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3A5B7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>
                <a:latin typeface="Yu Gothic" panose="020B0400000000000000" pitchFamily="50" charset="-128"/>
              </a:rPr>
              <a:t>ZIP</a:t>
            </a:r>
            <a:r>
              <a:rPr kumimoji="1" lang="ja-JP" altLang="en-US" sz="1200">
                <a:latin typeface="Yu Gothic" panose="020B0400000000000000" pitchFamily="50" charset="-128"/>
              </a:rPr>
              <a:t>ダウンロード</a:t>
            </a:r>
          </a:p>
        </p:txBody>
      </p:sp>
      <p:sp>
        <p:nvSpPr>
          <p:cNvPr id="16" name="四角形: 角を丸くする 15">
            <a:extLst>
              <a:ext uri="{FF2B5EF4-FFF2-40B4-BE49-F238E27FC236}">
                <a16:creationId xmlns:a16="http://schemas.microsoft.com/office/drawing/2014/main" id="{0CCC726E-A8FA-9BD4-37E2-BA3EA45CBD61}"/>
              </a:ext>
            </a:extLst>
          </p:cNvPr>
          <p:cNvSpPr/>
          <p:nvPr/>
        </p:nvSpPr>
        <p:spPr>
          <a:xfrm>
            <a:off x="1778000" y="4000500"/>
            <a:ext cx="2540000" cy="6985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3A5B7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1200">
                <a:latin typeface="Yu Gothic" panose="020B0400000000000000" pitchFamily="50" charset="-128"/>
              </a:rPr>
              <a:t>ZIP</a:t>
            </a:r>
            <a:r>
              <a:rPr kumimoji="1" lang="zh-TW" altLang="en-US" sz="1200">
                <a:latin typeface="Yu Gothic" panose="020B0400000000000000" pitchFamily="50" charset="-128"/>
              </a:rPr>
              <a:t>解凍
明細</a:t>
            </a:r>
            <a:r>
              <a:rPr kumimoji="1" lang="en-US" altLang="zh-TW" sz="1200">
                <a:latin typeface="Yu Gothic" panose="020B0400000000000000" pitchFamily="50" charset="-128"/>
              </a:rPr>
              <a:t>Excel</a:t>
            </a:r>
            <a:r>
              <a:rPr kumimoji="1" lang="zh-TW" altLang="en-US" sz="1200">
                <a:latin typeface="Yu Gothic" panose="020B0400000000000000" pitchFamily="50" charset="-128"/>
              </a:rPr>
              <a:t>読込</a:t>
            </a:r>
            <a:endParaRPr kumimoji="1" lang="ja-JP" altLang="en-US" sz="1200">
              <a:latin typeface="Yu Gothic" panose="020B0400000000000000" pitchFamily="50" charset="-128"/>
            </a:endParaRPr>
          </a:p>
        </p:txBody>
      </p:sp>
      <p:sp>
        <p:nvSpPr>
          <p:cNvPr id="17" name="四角形: 角を丸くする 16">
            <a:extLst>
              <a:ext uri="{FF2B5EF4-FFF2-40B4-BE49-F238E27FC236}">
                <a16:creationId xmlns:a16="http://schemas.microsoft.com/office/drawing/2014/main" id="{D13F6062-061D-4A6C-B077-70D3EEF0C80A}"/>
              </a:ext>
            </a:extLst>
          </p:cNvPr>
          <p:cNvSpPr/>
          <p:nvPr/>
        </p:nvSpPr>
        <p:spPr>
          <a:xfrm>
            <a:off x="4826000" y="4000500"/>
            <a:ext cx="2794000" cy="6985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3A5B7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>
                <a:latin typeface="Yu Gothic" panose="020B0400000000000000" pitchFamily="50" charset="-128"/>
              </a:rPr>
              <a:t>PDF</a:t>
            </a:r>
            <a:r>
              <a:rPr kumimoji="1" lang="ja-JP" altLang="en-US" sz="1200">
                <a:latin typeface="Yu Gothic" panose="020B0400000000000000" pitchFamily="50" charset="-128"/>
              </a:rPr>
              <a:t>テキスト抽出
合計行取得</a:t>
            </a:r>
          </a:p>
        </p:txBody>
      </p:sp>
      <p:sp>
        <p:nvSpPr>
          <p:cNvPr id="18" name="四角形: 角を丸くする 17">
            <a:extLst>
              <a:ext uri="{FF2B5EF4-FFF2-40B4-BE49-F238E27FC236}">
                <a16:creationId xmlns:a16="http://schemas.microsoft.com/office/drawing/2014/main" id="{EB04397E-F366-2D29-B03C-26C53C792A1A}"/>
              </a:ext>
            </a:extLst>
          </p:cNvPr>
          <p:cNvSpPr/>
          <p:nvPr/>
        </p:nvSpPr>
        <p:spPr>
          <a:xfrm>
            <a:off x="8128000" y="4000500"/>
            <a:ext cx="2540000" cy="6985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3A5B7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1200">
                <a:latin typeface="Yu Gothic" panose="020B0400000000000000" pitchFamily="50" charset="-128"/>
              </a:rPr>
              <a:t>Excel</a:t>
            </a:r>
            <a:r>
              <a:rPr kumimoji="1" lang="zh-TW" altLang="en-US" sz="1200">
                <a:latin typeface="Yu Gothic" panose="020B0400000000000000" pitchFamily="50" charset="-128"/>
              </a:rPr>
              <a:t>転記
部門別集計</a:t>
            </a:r>
            <a:endParaRPr kumimoji="1" lang="ja-JP" altLang="en-US" sz="1200">
              <a:latin typeface="Yu Gothic" panose="020B0400000000000000" pitchFamily="50" charset="-128"/>
            </a:endParaRPr>
          </a:p>
        </p:txBody>
      </p:sp>
      <p:sp>
        <p:nvSpPr>
          <p:cNvPr id="19" name="四角形: 角を丸くする 18">
            <a:extLst>
              <a:ext uri="{FF2B5EF4-FFF2-40B4-BE49-F238E27FC236}">
                <a16:creationId xmlns:a16="http://schemas.microsoft.com/office/drawing/2014/main" id="{8EB3FD15-41AC-9DC8-8993-F5AA58A537E1}"/>
              </a:ext>
            </a:extLst>
          </p:cNvPr>
          <p:cNvSpPr/>
          <p:nvPr/>
        </p:nvSpPr>
        <p:spPr>
          <a:xfrm>
            <a:off x="8128000" y="4572000"/>
            <a:ext cx="2540000" cy="6985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3A5B7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200">
                <a:latin typeface="Yu Gothic" panose="020B0400000000000000" pitchFamily="50" charset="-128"/>
              </a:rPr>
              <a:t>出力保存
コピー（リトライ）</a:t>
            </a:r>
          </a:p>
        </p:txBody>
      </p:sp>
      <p:sp>
        <p:nvSpPr>
          <p:cNvPr id="20" name="四角形: 角を丸くする 19">
            <a:extLst>
              <a:ext uri="{FF2B5EF4-FFF2-40B4-BE49-F238E27FC236}">
                <a16:creationId xmlns:a16="http://schemas.microsoft.com/office/drawing/2014/main" id="{E5D5293B-5D0E-00E7-6F79-F3A460BAE334}"/>
              </a:ext>
            </a:extLst>
          </p:cNvPr>
          <p:cNvSpPr/>
          <p:nvPr/>
        </p:nvSpPr>
        <p:spPr>
          <a:xfrm>
            <a:off x="8128000" y="5524500"/>
            <a:ext cx="2794000" cy="6985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3A5B7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200">
                <a:latin typeface="Yu Gothic" panose="020B0400000000000000" pitchFamily="50" charset="-128"/>
              </a:rPr>
              <a:t>結果メール送信</a:t>
            </a:r>
          </a:p>
        </p:txBody>
      </p:sp>
      <p:cxnSp>
        <p:nvCxnSpPr>
          <p:cNvPr id="21" name="直線コネクタ 20">
            <a:extLst>
              <a:ext uri="{FF2B5EF4-FFF2-40B4-BE49-F238E27FC236}">
                <a16:creationId xmlns:a16="http://schemas.microsoft.com/office/drawing/2014/main" id="{EF976379-7385-2BF9-A43D-7FDD5F182262}"/>
              </a:ext>
            </a:extLst>
          </p:cNvPr>
          <p:cNvCxnSpPr/>
          <p:nvPr/>
        </p:nvCxnSpPr>
        <p:spPr>
          <a:xfrm flipV="1">
            <a:off x="1092200" y="1555750"/>
            <a:ext cx="685800" cy="6350"/>
          </a:xfrm>
          <a:prstGeom prst="line">
            <a:avLst/>
          </a:prstGeom>
          <a:ln w="15875">
            <a:solidFill>
              <a:srgbClr val="3A5B7A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線コネクタ 21">
            <a:extLst>
              <a:ext uri="{FF2B5EF4-FFF2-40B4-BE49-F238E27FC236}">
                <a16:creationId xmlns:a16="http://schemas.microsoft.com/office/drawing/2014/main" id="{3FB1E992-7C49-EAD7-8DB6-62A078F89499}"/>
              </a:ext>
            </a:extLst>
          </p:cNvPr>
          <p:cNvCxnSpPr/>
          <p:nvPr/>
        </p:nvCxnSpPr>
        <p:spPr>
          <a:xfrm>
            <a:off x="3175000" y="1905000"/>
            <a:ext cx="2540000" cy="762000"/>
          </a:xfrm>
          <a:prstGeom prst="line">
            <a:avLst/>
          </a:prstGeom>
          <a:ln w="15875">
            <a:solidFill>
              <a:srgbClr val="3A5B7A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線コネクタ 22">
            <a:extLst>
              <a:ext uri="{FF2B5EF4-FFF2-40B4-BE49-F238E27FC236}">
                <a16:creationId xmlns:a16="http://schemas.microsoft.com/office/drawing/2014/main" id="{98E06553-AC4C-74DA-9706-CA152083684F}"/>
              </a:ext>
            </a:extLst>
          </p:cNvPr>
          <p:cNvCxnSpPr/>
          <p:nvPr/>
        </p:nvCxnSpPr>
        <p:spPr>
          <a:xfrm>
            <a:off x="6858000" y="2984500"/>
            <a:ext cx="508000" cy="0"/>
          </a:xfrm>
          <a:prstGeom prst="line">
            <a:avLst/>
          </a:prstGeom>
          <a:ln w="15875">
            <a:solidFill>
              <a:srgbClr val="3A5B7A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線コネクタ 23">
            <a:extLst>
              <a:ext uri="{FF2B5EF4-FFF2-40B4-BE49-F238E27FC236}">
                <a16:creationId xmlns:a16="http://schemas.microsoft.com/office/drawing/2014/main" id="{AFD03976-BE6A-AA5D-1158-3D071B1334A2}"/>
              </a:ext>
            </a:extLst>
          </p:cNvPr>
          <p:cNvCxnSpPr/>
          <p:nvPr/>
        </p:nvCxnSpPr>
        <p:spPr>
          <a:xfrm flipH="1">
            <a:off x="3048000" y="3302000"/>
            <a:ext cx="5588000" cy="698500"/>
          </a:xfrm>
          <a:prstGeom prst="line">
            <a:avLst/>
          </a:prstGeom>
          <a:ln w="15875">
            <a:solidFill>
              <a:srgbClr val="3A5B7A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線コネクタ 24">
            <a:extLst>
              <a:ext uri="{FF2B5EF4-FFF2-40B4-BE49-F238E27FC236}">
                <a16:creationId xmlns:a16="http://schemas.microsoft.com/office/drawing/2014/main" id="{8A28E06D-460B-4BEA-1F49-7759D05A6FDA}"/>
              </a:ext>
            </a:extLst>
          </p:cNvPr>
          <p:cNvCxnSpPr/>
          <p:nvPr/>
        </p:nvCxnSpPr>
        <p:spPr>
          <a:xfrm>
            <a:off x="4318000" y="4349750"/>
            <a:ext cx="508000" cy="0"/>
          </a:xfrm>
          <a:prstGeom prst="line">
            <a:avLst/>
          </a:prstGeom>
          <a:ln w="15875">
            <a:solidFill>
              <a:srgbClr val="3A5B7A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線コネクタ 25">
            <a:extLst>
              <a:ext uri="{FF2B5EF4-FFF2-40B4-BE49-F238E27FC236}">
                <a16:creationId xmlns:a16="http://schemas.microsoft.com/office/drawing/2014/main" id="{F4930ED3-8BF5-3437-F6D4-53ED0B056229}"/>
              </a:ext>
            </a:extLst>
          </p:cNvPr>
          <p:cNvCxnSpPr/>
          <p:nvPr/>
        </p:nvCxnSpPr>
        <p:spPr>
          <a:xfrm>
            <a:off x="7620000" y="4349750"/>
            <a:ext cx="508000" cy="0"/>
          </a:xfrm>
          <a:prstGeom prst="line">
            <a:avLst/>
          </a:prstGeom>
          <a:ln w="15875">
            <a:solidFill>
              <a:srgbClr val="3A5B7A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線コネクタ 26">
            <a:extLst>
              <a:ext uri="{FF2B5EF4-FFF2-40B4-BE49-F238E27FC236}">
                <a16:creationId xmlns:a16="http://schemas.microsoft.com/office/drawing/2014/main" id="{5CCE18C2-CD07-4713-CC37-E775313B8B94}"/>
              </a:ext>
            </a:extLst>
          </p:cNvPr>
          <p:cNvCxnSpPr/>
          <p:nvPr/>
        </p:nvCxnSpPr>
        <p:spPr>
          <a:xfrm flipV="1">
            <a:off x="9398000" y="4572000"/>
            <a:ext cx="0" cy="127000"/>
          </a:xfrm>
          <a:prstGeom prst="line">
            <a:avLst/>
          </a:prstGeom>
          <a:ln w="15875">
            <a:solidFill>
              <a:srgbClr val="3A5B7A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直線コネクタ 27">
            <a:extLst>
              <a:ext uri="{FF2B5EF4-FFF2-40B4-BE49-F238E27FC236}">
                <a16:creationId xmlns:a16="http://schemas.microsoft.com/office/drawing/2014/main" id="{A6CC7D1B-3B22-0CFB-C6B9-4226DC244F12}"/>
              </a:ext>
            </a:extLst>
          </p:cNvPr>
          <p:cNvCxnSpPr/>
          <p:nvPr/>
        </p:nvCxnSpPr>
        <p:spPr>
          <a:xfrm>
            <a:off x="9398000" y="5270500"/>
            <a:ext cx="127000" cy="254000"/>
          </a:xfrm>
          <a:prstGeom prst="line">
            <a:avLst/>
          </a:prstGeom>
          <a:ln w="15875">
            <a:solidFill>
              <a:srgbClr val="3A5B7A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直線コネクタ 28">
            <a:extLst>
              <a:ext uri="{FF2B5EF4-FFF2-40B4-BE49-F238E27FC236}">
                <a16:creationId xmlns:a16="http://schemas.microsoft.com/office/drawing/2014/main" id="{994B9C55-9FF1-296F-5E27-567F02ABBF2A}"/>
              </a:ext>
            </a:extLst>
          </p:cNvPr>
          <p:cNvCxnSpPr/>
          <p:nvPr/>
        </p:nvCxnSpPr>
        <p:spPr>
          <a:xfrm flipV="1">
            <a:off x="10922000" y="1562100"/>
            <a:ext cx="254000" cy="4311650"/>
          </a:xfrm>
          <a:prstGeom prst="line">
            <a:avLst/>
          </a:prstGeom>
          <a:ln w="15875">
            <a:solidFill>
              <a:srgbClr val="3A5B7A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906131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65</Words>
  <Application>Microsoft Office PowerPoint</Application>
  <PresentationFormat>ワイド画面</PresentationFormat>
  <Paragraphs>15</Paragraphs>
  <Slides>1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</vt:i4>
      </vt:variant>
    </vt:vector>
  </HeadingPairs>
  <TitlesOfParts>
    <vt:vector size="6" baseType="lpstr">
      <vt:lpstr>游ゴシック</vt:lpstr>
      <vt:lpstr>游ゴシック</vt:lpstr>
      <vt:lpstr>游ゴシック Light</vt:lpstr>
      <vt:lpstr>Arial</vt:lpstr>
      <vt:lpstr>Office テーマ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Masaru Okamura</dc:creator>
  <cp:lastModifiedBy>Masaru Okamura</cp:lastModifiedBy>
  <cp:revision>1</cp:revision>
  <dcterms:created xsi:type="dcterms:W3CDTF">2026-02-01T02:49:19Z</dcterms:created>
  <dcterms:modified xsi:type="dcterms:W3CDTF">2026-02-01T02:49:19Z</dcterms:modified>
</cp:coreProperties>
</file>